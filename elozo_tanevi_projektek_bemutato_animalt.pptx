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000Bread000/20250911-html" TargetMode="External"/><Relationship Id="rId1" Type="http://schemas.openxmlformats.org/officeDocument/2006/relationships/image" Target="../media/image-3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000Bread000/20251114-proj" TargetMode="External"/><Relationship Id="rId1" Type="http://schemas.openxmlformats.org/officeDocument/2006/relationships/image" Target="../media/image-4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000Bread000/2026-02-26-projekt" TargetMode="External"/><Relationship Id="rId1" Type="http://schemas.openxmlformats.org/officeDocument/2006/relationships/image" Target="../media/image-5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000Bread000/20260327" TargetMode="External"/><Relationship Id="rId1" Type="http://schemas.openxmlformats.org/officeDocument/2006/relationships/image" Target="../media/image-6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wide_cinematic_modern_tech_themed_illustration.png">    </p:cNvPr>
          <p:cNvPicPr>
            <a:picLocks noChangeAspect="1"/>
          </p:cNvPicPr>
          <p:nvPr/>
        </p:nvPicPr>
        <p:blipFill>
          <a:blip r:embed="rId1"/>
          <a:srcRect l="0" r="0"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76656" y="1078992"/>
            <a:ext cx="6035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Előző tanévi projektek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676656" y="173736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2D3E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rövid bemutató</a:t>
            </a:r>
            <a:endParaRPr lang="en-US" sz="2300" dirty="0"/>
          </a:p>
        </p:txBody>
      </p:sp>
      <p:sp>
        <p:nvSpPr>
          <p:cNvPr id="5" name="Text 2"/>
          <p:cNvSpPr/>
          <p:nvPr/>
        </p:nvSpPr>
        <p:spPr>
          <a:xfrm>
            <a:off x="713232" y="2359152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Készítők: Zellei Milán, Pető Gergő, Vida-Szűcs Dominik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713232" y="2706624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5B4FC"/>
                </a:solidFill>
              </a:rPr>
              <a:t>Dátum: 2026. szeptember 7.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713232" y="3246120"/>
            <a:ext cx="2560320" cy="329184"/>
          </a:xfrm>
          <a:prstGeom prst="roundRect">
            <a:avLst>
              <a:gd name="adj" fmla="val 16667"/>
            </a:avLst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2960" y="3314700"/>
            <a:ext cx="23408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0B1120"/>
                </a:solidFill>
              </a:rPr>
              <a:t>IKT / programozás / webfejlesztés</a:t>
            </a:r>
            <a:endParaRPr lang="en-US" sz="880" dirty="0"/>
          </a:p>
        </p:txBody>
      </p:sp>
      <p:sp>
        <p:nvSpPr>
          <p:cNvPr id="9" name="Shape 6"/>
          <p:cNvSpPr/>
          <p:nvPr/>
        </p:nvSpPr>
        <p:spPr>
          <a:xfrm>
            <a:off x="3474720" y="3246120"/>
            <a:ext cx="2880360" cy="329184"/>
          </a:xfrm>
          <a:prstGeom prst="roundRect">
            <a:avLst>
              <a:gd name="adj" fmla="val 16667"/>
            </a:avLst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584448" y="3314700"/>
            <a:ext cx="26609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0B1120"/>
                </a:solidFill>
              </a:rPr>
              <a:t>rövid, tanári bemutatóra optimalizált</a:t>
            </a:r>
            <a:endParaRPr lang="en-US" sz="880" dirty="0"/>
          </a:p>
        </p:txBody>
      </p:sp>
      <p:sp>
        <p:nvSpPr>
          <p:cNvPr id="11" name="Text 8"/>
          <p:cNvSpPr/>
          <p:nvPr/>
        </p:nvSpPr>
        <p:spPr>
          <a:xfrm>
            <a:off x="548640" y="6473952"/>
            <a:ext cx="5120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94A3B8"/>
                </a:solidFill>
              </a:rPr>
              <a:t>Zellei Milán • Projektösszefoglaló • 2026.09.07.</a:t>
            </a:r>
            <a:endParaRPr lang="en-US" sz="720" dirty="0"/>
          </a:p>
        </p:txBody>
      </p:sp>
      <p:sp>
        <p:nvSpPr>
          <p:cNvPr id="12" name="Text 9"/>
          <p:cNvSpPr/>
          <p:nvPr/>
        </p:nvSpPr>
        <p:spPr>
          <a:xfrm>
            <a:off x="11292840" y="6464808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94A3B8"/>
                </a:solidFill>
              </a:rPr>
              <a:t>1</a:t>
            </a:r>
            <a:endParaRPr lang="en-US" sz="72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presetID="10" presetClass="entr" presetSubtype="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4" dur="1" fill="hold"/>
                            <p:tgtEl>
                              <p:spTgt spid="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" dur="420" fill="hold"/>
                            <p:tgtEl>
                              <p:spTgt spid="3"/>
                            </p:tgtEl>
                          </p:cBhvr>
                        </p:animEffect>
                      </p:childTnLst>
                    </p:cTn>
                  </p:par>
                  <p:par>
                    <p:cTn id="6" presetID="10" presetClass="entr" presetSubtype="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7" dur="1" fill="hold"/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8" dur="420" fill="hold"/>
                            <p:tgtEl>
                              <p:spTgt spid="4"/>
                            </p:tgtEl>
                          </p:cBhvr>
                        </p:animEffect>
                      </p:childTnLst>
                    </p:cTn>
                  </p:par>
                  <p:par>
                    <p:cTn id="9" presetID="10" presetClass="entr" presetSubtype="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10" dur="1" fill="hold"/>
                            <p:tgtEl>
                              <p:spTgt spid="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1" dur="420" fill="hold"/>
                            <p:tgtEl>
                              <p:spTgt spid="5"/>
                            </p:tgtEl>
                          </p:cBhvr>
                        </p:animEffect>
                      </p:childTnLst>
                    </p:cTn>
                  </p:par>
                  <p:par>
                    <p:cTn id="12" presetID="10" presetClass="entr" presetSubtype="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13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4" dur="420" fill="hold"/>
                            <p:tgtEl>
                              <p:spTgt spid="6"/>
                            </p:tgtEl>
                          </p:cBhvr>
                        </p:animEffect>
                      </p:childTnLst>
                    </p:cTn>
                  </p:par>
                  <p:par>
                    <p:cTn id="15" presetID="10" presetClass="entr" presetSubtype="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16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7" dur="420" fill="hold"/>
                            <p:tgtEl>
                              <p:spTgt spid="7"/>
                            </p:tgtEl>
                          </p:cBhvr>
                        </p:animEffect>
                      </p:childTnLst>
                    </p:cTn>
                  </p:par>
                  <p:par>
                    <p:cTn id="18" presetID="10" presetClass="entr" presetSubtype="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19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0" dur="420" fill="hold"/>
                            <p:tgtEl>
                              <p:spTgt spid="9"/>
                            </p:tgtEl>
                          </p:cBhvr>
                        </p:animEffect>
                      </p:childTnLst>
                    </p:cTn>
                  </p:par>
                  <p:par>
                    <p:cTn id="21" presetID="10" presetClass="entr" presetSubtype="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2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3" dur="420" fill="hold"/>
                            <p:tgtEl>
                              <p:spTgt spid="8"/>
                            </p:tgtEl>
                          </p:cBhvr>
                        </p:animEffect>
                      </p:childTnLst>
                    </p:cTn>
                  </p:par>
                  <p:par>
                    <p:cTn id="24" presetID="10" presetClass="entr" presetSubtype="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25" dur="1" fill="hold"/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6" dur="420" fill="hold"/>
                            <p:tgtEl>
                              <p:spTgt spid="10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3" grpId="0"/>
      <p:bldP spid="4" grpId="0"/>
      <p:bldP spid="5" grpId="0"/>
      <p:bldP spid="6" grpId="0"/>
      <p:bldP spid="7" grpId="0"/>
      <p:bldP spid="9" grpId="0"/>
      <p:bldP spid="8" grpId="0"/>
      <p:bldP spid="10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wide_cinematic_futuristic_tech_themed_digital_il.png">    </p:cNvPr>
          <p:cNvPicPr>
            <a:picLocks noChangeAspect="1"/>
          </p:cNvPicPr>
          <p:nvPr/>
        </p:nvPicPr>
        <p:blipFill>
          <a:blip r:embed="rId1"/>
          <a:srcRect l="0" r="0"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47472"/>
            <a:ext cx="7498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Áttekintés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566928" y="86868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CBD5E1"/>
                </a:solidFill>
              </a:rPr>
              <a:t>A bemutató az előző tanévben készült, dokumentált projektek rövid összefoglalója.</a:t>
            </a:r>
            <a:endParaRPr lang="en-US" sz="880" dirty="0"/>
          </a:p>
        </p:txBody>
      </p:sp>
      <p:sp>
        <p:nvSpPr>
          <p:cNvPr id="5" name="Shape 2"/>
          <p:cNvSpPr/>
          <p:nvPr/>
        </p:nvSpPr>
        <p:spPr>
          <a:xfrm>
            <a:off x="548640" y="1188720"/>
            <a:ext cx="2468880" cy="0"/>
          </a:xfrm>
          <a:prstGeom prst="line">
            <a:avLst/>
          </a:prstGeom>
          <a:noFill/>
          <a:ln w="27940">
            <a:solidFill>
              <a:srgbClr val="22D3EE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85800" y="135331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D3EE"/>
                </a:solidFill>
              </a:rPr>
              <a:t>Projekt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3794760" y="135331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D3EE"/>
                </a:solidFill>
              </a:rPr>
              <a:t>Időtartam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5440680" y="135331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D3EE"/>
                </a:solidFill>
              </a:rPr>
              <a:t>Téma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8001000" y="135331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D3EE"/>
                </a:solidFill>
              </a:rPr>
              <a:t>Értékelés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612648" y="1591056"/>
            <a:ext cx="10698480" cy="502920"/>
          </a:xfrm>
          <a:prstGeom prst="roundRect">
            <a:avLst>
              <a:gd name="adj" fmla="val 14545"/>
            </a:avLst>
          </a:prstGeom>
          <a:solidFill>
            <a:srgbClr val="0F172A">
              <a:alpha val="90000"/>
            </a:srgbClr>
          </a:solidFill>
          <a:ln w="7620">
            <a:solidFill>
              <a:srgbClr val="334155">
                <a:alpha val="48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85800" y="1700784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8FAFC"/>
                </a:solidFill>
              </a:rPr>
              <a:t>HTML: szemantikus elemek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3794760" y="170078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CBD5E1"/>
                </a:solidFill>
              </a:rPr>
              <a:t>2025.09.</a:t>
            </a:r>
            <a:endParaRPr lang="en-US" sz="960" dirty="0"/>
          </a:p>
        </p:txBody>
      </p:sp>
      <p:sp>
        <p:nvSpPr>
          <p:cNvPr id="13" name="Text 10"/>
          <p:cNvSpPr/>
          <p:nvPr/>
        </p:nvSpPr>
        <p:spPr>
          <a:xfrm>
            <a:off x="5440680" y="1700784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CBD5E1"/>
                </a:solidFill>
              </a:rPr>
              <a:t>HTML + CSS + Bootstrap</a:t>
            </a:r>
            <a:endParaRPr lang="en-US" sz="960" dirty="0"/>
          </a:p>
        </p:txBody>
      </p:sp>
      <p:sp>
        <p:nvSpPr>
          <p:cNvPr id="14" name="Text 11"/>
          <p:cNvSpPr/>
          <p:nvPr/>
        </p:nvSpPr>
        <p:spPr>
          <a:xfrm>
            <a:off x="8001000" y="170078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CBD5E1"/>
                </a:solidFill>
              </a:rPr>
              <a:t>Kész, gyakorló jellegű</a:t>
            </a:r>
            <a:endParaRPr lang="en-US" sz="960" dirty="0"/>
          </a:p>
        </p:txBody>
      </p:sp>
      <p:sp>
        <p:nvSpPr>
          <p:cNvPr id="15" name="Shape 12"/>
          <p:cNvSpPr/>
          <p:nvPr/>
        </p:nvSpPr>
        <p:spPr>
          <a:xfrm>
            <a:off x="612648" y="2340864"/>
            <a:ext cx="10698480" cy="502920"/>
          </a:xfrm>
          <a:prstGeom prst="roundRect">
            <a:avLst>
              <a:gd name="adj" fmla="val 14545"/>
            </a:avLst>
          </a:prstGeom>
          <a:solidFill>
            <a:srgbClr val="0F172A">
              <a:alpha val="90000"/>
            </a:srgbClr>
          </a:solidFill>
          <a:ln w="7620">
            <a:solidFill>
              <a:srgbClr val="334155">
                <a:alpha val="4800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85800" y="245059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8FAFC"/>
                </a:solidFill>
              </a:rPr>
              <a:t>Projektmenedzsment alapok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3794760" y="245059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CBD5E1"/>
                </a:solidFill>
              </a:rPr>
              <a:t>2025.11.</a:t>
            </a:r>
            <a:endParaRPr lang="en-US" sz="960" dirty="0"/>
          </a:p>
        </p:txBody>
      </p:sp>
      <p:sp>
        <p:nvSpPr>
          <p:cNvPr id="18" name="Text 15"/>
          <p:cNvSpPr/>
          <p:nvPr/>
        </p:nvSpPr>
        <p:spPr>
          <a:xfrm>
            <a:off x="5440680" y="245059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CBD5E1"/>
                </a:solidFill>
              </a:rPr>
              <a:t>elméleti összefoglaló</a:t>
            </a:r>
            <a:endParaRPr lang="en-US" sz="960" dirty="0"/>
          </a:p>
        </p:txBody>
      </p:sp>
      <p:sp>
        <p:nvSpPr>
          <p:cNvPr id="19" name="Text 16"/>
          <p:cNvSpPr/>
          <p:nvPr/>
        </p:nvSpPr>
        <p:spPr>
          <a:xfrm>
            <a:off x="8001000" y="245059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CBD5E1"/>
                </a:solidFill>
              </a:rPr>
              <a:t>Kész, dokumentációs jellegű</a:t>
            </a:r>
            <a:endParaRPr lang="en-US" sz="960" dirty="0"/>
          </a:p>
        </p:txBody>
      </p:sp>
      <p:sp>
        <p:nvSpPr>
          <p:cNvPr id="20" name="Shape 17"/>
          <p:cNvSpPr/>
          <p:nvPr/>
        </p:nvSpPr>
        <p:spPr>
          <a:xfrm>
            <a:off x="612648" y="3090672"/>
            <a:ext cx="10698480" cy="502920"/>
          </a:xfrm>
          <a:prstGeom prst="roundRect">
            <a:avLst>
              <a:gd name="adj" fmla="val 14545"/>
            </a:avLst>
          </a:prstGeom>
          <a:solidFill>
            <a:srgbClr val="0F172A">
              <a:alpha val="90000"/>
            </a:srgbClr>
          </a:solidFill>
          <a:ln w="7620">
            <a:solidFill>
              <a:srgbClr val="334155">
                <a:alpha val="4800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85800" y="320040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8FAFC"/>
                </a:solidFill>
              </a:rPr>
              <a:t>Multi-Projekt Portfólió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3794760" y="320040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CBD5E1"/>
                </a:solidFill>
              </a:rPr>
              <a:t>2026.02.22–03.05.</a:t>
            </a:r>
            <a:endParaRPr lang="en-US" sz="960" dirty="0"/>
          </a:p>
        </p:txBody>
      </p:sp>
      <p:sp>
        <p:nvSpPr>
          <p:cNvPr id="23" name="Text 20"/>
          <p:cNvSpPr/>
          <p:nvPr/>
        </p:nvSpPr>
        <p:spPr>
          <a:xfrm>
            <a:off x="5440680" y="320040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CBD5E1"/>
                </a:solidFill>
              </a:rPr>
              <a:t>Python + Bootstrap</a:t>
            </a:r>
            <a:endParaRPr lang="en-US" sz="960" dirty="0"/>
          </a:p>
        </p:txBody>
      </p:sp>
      <p:sp>
        <p:nvSpPr>
          <p:cNvPr id="24" name="Text 21"/>
          <p:cNvSpPr/>
          <p:nvPr/>
        </p:nvSpPr>
        <p:spPr>
          <a:xfrm>
            <a:off x="8001000" y="320040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CBD5E1"/>
                </a:solidFill>
              </a:rPr>
              <a:t>Kész, komplex feladatcsomag</a:t>
            </a:r>
            <a:endParaRPr lang="en-US" sz="960" dirty="0"/>
          </a:p>
        </p:txBody>
      </p:sp>
      <p:sp>
        <p:nvSpPr>
          <p:cNvPr id="25" name="Shape 22"/>
          <p:cNvSpPr/>
          <p:nvPr/>
        </p:nvSpPr>
        <p:spPr>
          <a:xfrm>
            <a:off x="612648" y="3840480"/>
            <a:ext cx="10698480" cy="502920"/>
          </a:xfrm>
          <a:prstGeom prst="roundRect">
            <a:avLst>
              <a:gd name="adj" fmla="val 14545"/>
            </a:avLst>
          </a:prstGeom>
          <a:solidFill>
            <a:srgbClr val="0F172A">
              <a:alpha val="90000"/>
            </a:srgbClr>
          </a:solidFill>
          <a:ln w="7620">
            <a:solidFill>
              <a:srgbClr val="334155">
                <a:alpha val="4800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85800" y="395020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8FAFC"/>
                </a:solidFill>
              </a:rPr>
              <a:t>JS alapok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3794760" y="395020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CBD5E1"/>
                </a:solidFill>
              </a:rPr>
              <a:t>2026.03.27.</a:t>
            </a:r>
            <a:endParaRPr lang="en-US" sz="960" dirty="0"/>
          </a:p>
        </p:txBody>
      </p:sp>
      <p:sp>
        <p:nvSpPr>
          <p:cNvPr id="28" name="Text 25"/>
          <p:cNvSpPr/>
          <p:nvPr/>
        </p:nvSpPr>
        <p:spPr>
          <a:xfrm>
            <a:off x="5440680" y="395020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CBD5E1"/>
                </a:solidFill>
              </a:rPr>
              <a:t>HTML + JavaScript</a:t>
            </a:r>
            <a:endParaRPr lang="en-US" sz="960" dirty="0"/>
          </a:p>
        </p:txBody>
      </p:sp>
      <p:sp>
        <p:nvSpPr>
          <p:cNvPr id="29" name="Text 26"/>
          <p:cNvSpPr/>
          <p:nvPr/>
        </p:nvSpPr>
        <p:spPr>
          <a:xfrm>
            <a:off x="8001000" y="395020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CBD5E1"/>
                </a:solidFill>
              </a:rPr>
              <a:t>Kész, interaktív feladatgyűjtemény</a:t>
            </a:r>
            <a:endParaRPr lang="en-US" sz="960" dirty="0"/>
          </a:p>
        </p:txBody>
      </p:sp>
      <p:sp>
        <p:nvSpPr>
          <p:cNvPr id="30" name="Text 27"/>
          <p:cNvSpPr/>
          <p:nvPr/>
        </p:nvSpPr>
        <p:spPr>
          <a:xfrm>
            <a:off x="548640" y="6473952"/>
            <a:ext cx="5120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94A3B8"/>
                </a:solidFill>
              </a:rPr>
              <a:t>Zellei Milán • Projektösszefoglaló • 2026.09.07.</a:t>
            </a:r>
            <a:endParaRPr lang="en-US" sz="720" dirty="0"/>
          </a:p>
        </p:txBody>
      </p:sp>
      <p:sp>
        <p:nvSpPr>
          <p:cNvPr id="31" name="Text 28"/>
          <p:cNvSpPr/>
          <p:nvPr/>
        </p:nvSpPr>
        <p:spPr>
          <a:xfrm>
            <a:off x="11292840" y="6464808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94A3B8"/>
                </a:solidFill>
              </a:rPr>
              <a:t>2</a:t>
            </a:r>
            <a:endParaRPr lang="en-US" sz="72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presetID="10" presetClass="entr" presetSubtype="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4" dur="1" fill="hold"/>
                            <p:tgtEl>
                              <p:spTgt spid="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" dur="420" fill="hold"/>
                            <p:tgtEl>
                              <p:spTgt spid="3"/>
                            </p:tgtEl>
                          </p:cBhvr>
                        </p:animEffect>
                      </p:childTnLst>
                    </p:cTn>
                  </p:par>
                  <p:par>
                    <p:cTn id="6" presetID="10" presetClass="entr" presetSubtype="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7" dur="1" fill="hold"/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8" dur="420" fill="hold"/>
                            <p:tgtEl>
                              <p:spTgt spid="4"/>
                            </p:tgtEl>
                          </p:cBhvr>
                        </p:animEffect>
                      </p:childTnLst>
                    </p:cTn>
                  </p:par>
                  <p:par>
                    <p:cTn id="9" presetID="10" presetClass="entr" presetSubtype="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10" dur="1" fill="hold"/>
                            <p:tgtEl>
                              <p:spTgt spid="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1" dur="420" fill="hold"/>
                            <p:tgtEl>
                              <p:spTgt spid="5"/>
                            </p:tgtEl>
                          </p:cBhvr>
                        </p:animEffect>
                      </p:childTnLst>
                    </p:cTn>
                  </p:par>
                  <p:par>
                    <p:cTn id="12" presetID="10" presetClass="entr" presetSubtype="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13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4" dur="420" fill="hold"/>
                            <p:tgtEl>
                              <p:spTgt spid="6"/>
                            </p:tgtEl>
                          </p:cBhvr>
                        </p:animEffect>
                      </p:childTnLst>
                    </p:cTn>
                  </p:par>
                  <p:par>
                    <p:cTn id="15" presetID="10" presetClass="entr" presetSubtype="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16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7" dur="420" fill="hold"/>
                            <p:tgtEl>
                              <p:spTgt spid="7"/>
                            </p:tgtEl>
                          </p:cBhvr>
                        </p:animEffect>
                      </p:childTnLst>
                    </p:cTn>
                  </p:par>
                  <p:par>
                    <p:cTn id="18" presetID="10" presetClass="entr" presetSubtype="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19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0" dur="420" fill="hold"/>
                            <p:tgtEl>
                              <p:spTgt spid="8"/>
                            </p:tgtEl>
                          </p:cBhvr>
                        </p:animEffect>
                      </p:childTnLst>
                    </p:cTn>
                  </p:par>
                  <p:par>
                    <p:cTn id="21" presetID="10" presetClass="entr" presetSubtype="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2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3" dur="420" fill="hold"/>
                            <p:tgtEl>
                              <p:spTgt spid="9"/>
                            </p:tgtEl>
                          </p:cBhvr>
                        </p:animEffect>
                      </p:childTnLst>
                    </p:cTn>
                  </p:par>
                  <p:par>
                    <p:cTn id="24" presetID="10" presetClass="entr" presetSubtype="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25" dur="1" fill="hold"/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6" dur="420" fill="hold"/>
                            <p:tgtEl>
                              <p:spTgt spid="10"/>
                            </p:tgtEl>
                          </p:cBhvr>
                        </p:animEffect>
                      </p:childTnLst>
                    </p:cTn>
                  </p:par>
                  <p:par>
                    <p:cTn id="27" presetID="10" presetClass="entr" presetSubtype="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28" dur="1" fill="hold"/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9" dur="420" fill="hold"/>
                            <p:tgtEl>
                              <p:spTgt spid="11"/>
                            </p:tgtEl>
                          </p:cBhvr>
                        </p:animEffect>
                      </p:childTnLst>
                    </p:cTn>
                  </p:par>
                  <p:par>
                    <p:cTn id="30" presetID="10" presetClass="entr" presetSubtype="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31" dur="1" fill="hold"/>
                            <p:tgtEl>
                              <p:spTgt spid="1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2" dur="420" fill="hold"/>
                            <p:tgtEl>
                              <p:spTgt spid="12"/>
                            </p:tgtEl>
                          </p:cBhvr>
                        </p:animEffect>
                      </p:childTnLst>
                    </p:cTn>
                  </p:par>
                  <p:par>
                    <p:cTn id="33" presetID="10" presetClass="entr" presetSubtype="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34" dur="1" fill="hold"/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5" dur="420" fill="hold"/>
                            <p:tgtEl>
                              <p:spTgt spid="13"/>
                            </p:tgtEl>
                          </p:cBhvr>
                        </p:animEffect>
                      </p:childTnLst>
                    </p:cTn>
                  </p:par>
                  <p:par>
                    <p:cTn id="36" presetID="10" presetClass="entr" presetSubtype="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37" dur="1" fill="hold"/>
                            <p:tgtEl>
                              <p:spTgt spid="1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8" dur="420" fill="hold"/>
                            <p:tgtEl>
                              <p:spTgt spid="14"/>
                            </p:tgtEl>
                          </p:cBhvr>
                        </p:animEffect>
                      </p:childTnLst>
                    </p:cTn>
                  </p:par>
                  <p:par>
                    <p:cTn id="39" presetID="10" presetClass="entr" presetSubtype="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40" dur="1" fill="hold"/>
                            <p:tgtEl>
                              <p:spTgt spid="1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41" dur="420" fill="hold"/>
                            <p:tgtEl>
                              <p:spTgt spid="15"/>
                            </p:tgtEl>
                          </p:cBhvr>
                        </p:animEffect>
                      </p:childTnLst>
                    </p:cTn>
                  </p:par>
                  <p:par>
                    <p:cTn id="42" presetID="10" presetClass="entr" presetSubtype="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43" dur="1" fill="hold"/>
                            <p:tgtEl>
                              <p:spTgt spid="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44" dur="420" fill="hold"/>
                            <p:tgtEl>
                              <p:spTgt spid="16"/>
                            </p:tgtEl>
                          </p:cBhvr>
                        </p:animEffect>
                      </p:childTnLst>
                    </p:cTn>
                  </p:par>
                  <p:par>
                    <p:cTn id="45" presetID="10" presetClass="entr" presetSubtype="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46" dur="1" fill="hold"/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47" dur="420" fill="hold"/>
                            <p:tgtEl>
                              <p:spTgt spid="17"/>
                            </p:tgtEl>
                          </p:cBhvr>
                        </p:animEffect>
                      </p:childTnLst>
                    </p:cTn>
                  </p:par>
                  <p:par>
                    <p:cTn id="48" presetID="10" presetClass="entr" presetSubtype="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49" dur="1" fill="hold"/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0" dur="420" fill="hold"/>
                            <p:tgtEl>
                              <p:spTgt spid="18"/>
                            </p:tgtEl>
                          </p:cBhvr>
                        </p:animEffect>
                      </p:childTnLst>
                    </p:cTn>
                  </p:par>
                  <p:par>
                    <p:cTn id="51" presetID="10" presetClass="entr" presetSubtype="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52" dur="1" fill="hold"/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3" dur="420" fill="hold"/>
                            <p:tgtEl>
                              <p:spTgt spid="19"/>
                            </p:tgtEl>
                          </p:cBhvr>
                        </p:animEffect>
                      </p:childTnLst>
                    </p:cTn>
                  </p:par>
                  <p:par>
                    <p:cTn id="54" presetID="10" presetClass="entr" presetSubtype="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55" dur="1" fill="hold"/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6" dur="420" fill="hold"/>
                            <p:tgtEl>
                              <p:spTgt spid="20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3" grpId="0"/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wide_dark_futuristic_tech_themed_illustration.png">    </p:cNvPr>
          <p:cNvPicPr>
            <a:picLocks noChangeAspect="1"/>
          </p:cNvPicPr>
          <p:nvPr/>
        </p:nvPicPr>
        <p:blipFill>
          <a:blip r:embed="rId1"/>
          <a:srcRect l="0" r="0"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47472"/>
            <a:ext cx="7498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HTML: szemantikus elemek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566928" y="86868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CBD5E1"/>
                </a:solidFill>
              </a:rPr>
              <a:t>Cél: a weboldalak szerkezeti elemeinek gyakorlása, Bootstrap és saját CSS használatával.</a:t>
            </a:r>
            <a:endParaRPr lang="en-US" sz="880" dirty="0"/>
          </a:p>
        </p:txBody>
      </p:sp>
      <p:sp>
        <p:nvSpPr>
          <p:cNvPr id="5" name="Shape 2"/>
          <p:cNvSpPr/>
          <p:nvPr/>
        </p:nvSpPr>
        <p:spPr>
          <a:xfrm>
            <a:off x="548640" y="1188720"/>
            <a:ext cx="2468880" cy="0"/>
          </a:xfrm>
          <a:prstGeom prst="line">
            <a:avLst/>
          </a:prstGeom>
          <a:noFill/>
          <a:ln w="27940">
            <a:solidFill>
              <a:srgbClr val="22D3EE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85800" y="1508760"/>
            <a:ext cx="5212080" cy="4069080"/>
          </a:xfrm>
          <a:prstGeom prst="roundRect">
            <a:avLst>
              <a:gd name="adj" fmla="val 1798"/>
            </a:avLst>
          </a:prstGeom>
          <a:solidFill>
            <a:srgbClr val="0F172A">
              <a:alpha val="95000"/>
            </a:srgbClr>
          </a:solidFill>
          <a:ln w="7620">
            <a:solidFill>
              <a:srgbClr val="334155">
                <a:alpha val="48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60120" y="17556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D3EE"/>
                </a:solidFill>
              </a:rPr>
              <a:t>Téma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960120" y="2212848"/>
            <a:ext cx="73152" cy="7315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124712" y="2157984"/>
            <a:ext cx="42976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F8FAFC"/>
                </a:solidFill>
              </a:rPr>
              <a:t>Szemantikus HTML szerkezet: article, aside, header, main, footer.</a:t>
            </a:r>
            <a:endParaRPr lang="en-US" sz="1020" dirty="0"/>
          </a:p>
        </p:txBody>
      </p:sp>
      <p:sp>
        <p:nvSpPr>
          <p:cNvPr id="10" name="Shape 7"/>
          <p:cNvSpPr/>
          <p:nvPr/>
        </p:nvSpPr>
        <p:spPr>
          <a:xfrm>
            <a:off x="960120" y="2660904"/>
            <a:ext cx="73152" cy="7315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124712" y="2606040"/>
            <a:ext cx="42976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F8FAFC"/>
                </a:solidFill>
              </a:rPr>
              <a:t>Bootstrap alapú reszponzív felépítés.</a:t>
            </a:r>
            <a:endParaRPr lang="en-US" sz="1020" dirty="0"/>
          </a:p>
        </p:txBody>
      </p:sp>
      <p:sp>
        <p:nvSpPr>
          <p:cNvPr id="12" name="Shape 9"/>
          <p:cNvSpPr/>
          <p:nvPr/>
        </p:nvSpPr>
        <p:spPr>
          <a:xfrm>
            <a:off x="960120" y="3108960"/>
            <a:ext cx="73152" cy="7315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124712" y="3054096"/>
            <a:ext cx="42976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F8FAFC"/>
                </a:solidFill>
              </a:rPr>
              <a:t>Külső CSS és képi elem használata.</a:t>
            </a:r>
            <a:endParaRPr lang="en-US" sz="1020" dirty="0"/>
          </a:p>
        </p:txBody>
      </p:sp>
      <p:sp>
        <p:nvSpPr>
          <p:cNvPr id="14" name="Shape 11"/>
          <p:cNvSpPr/>
          <p:nvPr/>
        </p:nvSpPr>
        <p:spPr>
          <a:xfrm>
            <a:off x="6263640" y="1508760"/>
            <a:ext cx="5120640" cy="4069080"/>
          </a:xfrm>
          <a:prstGeom prst="roundRect">
            <a:avLst>
              <a:gd name="adj" fmla="val 1798"/>
            </a:avLst>
          </a:prstGeom>
          <a:solidFill>
            <a:srgbClr val="0F172A">
              <a:alpha val="92000"/>
            </a:srgbClr>
          </a:solidFill>
          <a:ln w="7620">
            <a:solidFill>
              <a:srgbClr val="334155">
                <a:alpha val="48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537960" y="17556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D3EE"/>
                </a:solidFill>
              </a:rPr>
              <a:t>Adatok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537960" y="2157984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Készítők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7909560" y="2157984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Zellei Milán, Pető Gergő, Vida-Szűcs Dominik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6537960" y="2697480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Időtartam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7909560" y="269748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2025. szeptember, órai projektfeladat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6537960" y="3236976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Értékelés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7909560" y="3182112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F8FAFC"/>
                </a:solidFill>
              </a:rPr>
              <a:t>Kész alapfeladat; további fejlesztésként egységesebb tartalom és validabb linkstruktúra javasolt.</a:t>
            </a:r>
            <a:endParaRPr lang="en-US" sz="940" dirty="0"/>
          </a:p>
        </p:txBody>
      </p:sp>
      <p:sp>
        <p:nvSpPr>
          <p:cNvPr id="22" name="Text 19">
            <a:hlinkClick r:id="rId2" tooltip=""/>
          </p:cNvPr>
          <p:cNvSpPr/>
          <p:nvPr/>
        </p:nvSpPr>
        <p:spPr>
          <a:xfrm>
            <a:off x="6537960" y="416052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u="sng" dirty="0">
                <a:solidFill>
                  <a:srgbClr val="22D3EE"/>
                </a:solidFill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Elérhető: GitHub / 20250911-html</a:t>
            </a:r>
            <a:endParaRPr lang="en-US" sz="920" dirty="0"/>
          </a:p>
        </p:txBody>
      </p:sp>
      <p:sp>
        <p:nvSpPr>
          <p:cNvPr id="23" name="Text 20"/>
          <p:cNvSpPr/>
          <p:nvPr/>
        </p:nvSpPr>
        <p:spPr>
          <a:xfrm>
            <a:off x="6492240" y="6473952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70" dirty="0">
                <a:solidFill>
                  <a:srgbClr val="64748B"/>
                </a:solidFill>
              </a:rPr>
              <a:t>Forrás: GitHub repo tartalom</a:t>
            </a:r>
            <a:endParaRPr lang="en-US" sz="670" dirty="0"/>
          </a:p>
        </p:txBody>
      </p:sp>
      <p:sp>
        <p:nvSpPr>
          <p:cNvPr id="24" name="Text 21"/>
          <p:cNvSpPr/>
          <p:nvPr/>
        </p:nvSpPr>
        <p:spPr>
          <a:xfrm>
            <a:off x="548640" y="6473952"/>
            <a:ext cx="5120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94A3B8"/>
                </a:solidFill>
              </a:rPr>
              <a:t>Zellei Milán • Projektösszefoglaló • 2026.09.07.</a:t>
            </a:r>
            <a:endParaRPr lang="en-US" sz="720" dirty="0"/>
          </a:p>
        </p:txBody>
      </p:sp>
      <p:sp>
        <p:nvSpPr>
          <p:cNvPr id="25" name="Text 22"/>
          <p:cNvSpPr/>
          <p:nvPr/>
        </p:nvSpPr>
        <p:spPr>
          <a:xfrm>
            <a:off x="11292840" y="6464808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94A3B8"/>
                </a:solidFill>
              </a:rPr>
              <a:t>3</a:t>
            </a:r>
            <a:endParaRPr lang="en-US" sz="72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presetID="10" presetClass="entr" presetSubtype="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4" dur="1" fill="hold"/>
                            <p:tgtEl>
                              <p:spTgt spid="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" dur="420" fill="hold"/>
                            <p:tgtEl>
                              <p:spTgt spid="3"/>
                            </p:tgtEl>
                          </p:cBhvr>
                        </p:animEffect>
                      </p:childTnLst>
                    </p:cTn>
                  </p:par>
                  <p:par>
                    <p:cTn id="6" presetID="10" presetClass="entr" presetSubtype="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7" dur="1" fill="hold"/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8" dur="420" fill="hold"/>
                            <p:tgtEl>
                              <p:spTgt spid="4"/>
                            </p:tgtEl>
                          </p:cBhvr>
                        </p:animEffect>
                      </p:childTnLst>
                    </p:cTn>
                  </p:par>
                  <p:par>
                    <p:cTn id="9" presetID="10" presetClass="entr" presetSubtype="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10" dur="1" fill="hold"/>
                            <p:tgtEl>
                              <p:spTgt spid="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1" dur="420" fill="hold"/>
                            <p:tgtEl>
                              <p:spTgt spid="5"/>
                            </p:tgtEl>
                          </p:cBhvr>
                        </p:animEffect>
                      </p:childTnLst>
                    </p:cTn>
                  </p:par>
                  <p:par>
                    <p:cTn id="12" presetID="10" presetClass="entr" presetSubtype="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13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4" dur="420" fill="hold"/>
                            <p:tgtEl>
                              <p:spTgt spid="6"/>
                            </p:tgtEl>
                          </p:cBhvr>
                        </p:animEffect>
                      </p:childTnLst>
                    </p:cTn>
                  </p:par>
                  <p:par>
                    <p:cTn id="15" presetID="10" presetClass="entr" presetSubtype="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16" dur="1" fill="hold"/>
                            <p:tgtEl>
                              <p:spTgt spid="1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7" dur="420" fill="hold"/>
                            <p:tgtEl>
                              <p:spTgt spid="14"/>
                            </p:tgtEl>
                          </p:cBhvr>
                        </p:animEffect>
                      </p:childTnLst>
                    </p:cTn>
                  </p:par>
                  <p:par>
                    <p:cTn id="18" presetID="10" presetClass="entr" presetSubtype="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19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0" dur="420" fill="hold"/>
                            <p:tgtEl>
                              <p:spTgt spid="7"/>
                            </p:tgtEl>
                          </p:cBhvr>
                        </p:animEffect>
                      </p:childTnLst>
                    </p:cTn>
                  </p:par>
                  <p:par>
                    <p:cTn id="21" presetID="10" presetClass="entr" presetSubtype="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22" dur="1" fill="hold"/>
                            <p:tgtEl>
                              <p:spTgt spid="1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3" dur="420" fill="hold"/>
                            <p:tgtEl>
                              <p:spTgt spid="15"/>
                            </p:tgtEl>
                          </p:cBhvr>
                        </p:animEffect>
                      </p:childTnLst>
                    </p:cTn>
                  </p:par>
                  <p:par>
                    <p:cTn id="24" presetID="10" presetClass="entr" presetSubtype="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25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6" dur="420" fill="hold"/>
                            <p:tgtEl>
                              <p:spTgt spid="9"/>
                            </p:tgtEl>
                          </p:cBhvr>
                        </p:animEffect>
                      </p:childTnLst>
                    </p:cTn>
                  </p:par>
                  <p:par>
                    <p:cTn id="27" presetID="10" presetClass="entr" presetSubtype="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28" dur="1" fill="hold"/>
                            <p:tgtEl>
                              <p:spTgt spid="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9" dur="420" fill="hold"/>
                            <p:tgtEl>
                              <p:spTgt spid="16"/>
                            </p:tgtEl>
                          </p:cBhvr>
                        </p:animEffect>
                      </p:childTnLst>
                    </p:cTn>
                  </p:par>
                  <p:par>
                    <p:cTn id="30" presetID="10" presetClass="entr" presetSubtype="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31" dur="1" fill="hold"/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2" dur="420" fill="hold"/>
                            <p:tgtEl>
                              <p:spTgt spid="17"/>
                            </p:tgtEl>
                          </p:cBhvr>
                        </p:animEffect>
                      </p:childTnLst>
                    </p:cTn>
                  </p:par>
                  <p:par>
                    <p:cTn id="33" presetID="10" presetClass="entr" presetSubtype="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34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5" dur="420" fill="hold"/>
                            <p:tgtEl>
                              <p:spTgt spid="8"/>
                            </p:tgtEl>
                          </p:cBhvr>
                        </p:animEffect>
                      </p:childTnLst>
                    </p:cTn>
                  </p:par>
                  <p:par>
                    <p:cTn id="36" presetID="10" presetClass="entr" presetSubtype="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37" dur="1" fill="hold"/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8" dur="420" fill="hold"/>
                            <p:tgtEl>
                              <p:spTgt spid="11"/>
                            </p:tgtEl>
                          </p:cBhvr>
                        </p:animEffect>
                      </p:childTnLst>
                    </p:cTn>
                  </p:par>
                  <p:par>
                    <p:cTn id="39" presetID="10" presetClass="entr" presetSubtype="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40" dur="1" fill="hold"/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41" dur="420" fill="hold"/>
                            <p:tgtEl>
                              <p:spTgt spid="10"/>
                            </p:tgtEl>
                          </p:cBhvr>
                        </p:animEffect>
                      </p:childTnLst>
                    </p:cTn>
                  </p:par>
                  <p:par>
                    <p:cTn id="42" presetID="10" presetClass="entr" presetSubtype="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43" dur="1" fill="hold"/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44" dur="420" fill="hold"/>
                            <p:tgtEl>
                              <p:spTgt spid="18"/>
                            </p:tgtEl>
                          </p:cBhvr>
                        </p:animEffect>
                      </p:childTnLst>
                    </p:cTn>
                  </p:par>
                  <p:par>
                    <p:cTn id="45" presetID="10" presetClass="entr" presetSubtype="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46" dur="1" fill="hold"/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47" dur="420" fill="hold"/>
                            <p:tgtEl>
                              <p:spTgt spid="19"/>
                            </p:tgtEl>
                          </p:cBhvr>
                        </p:animEffect>
                      </p:childTnLst>
                    </p:cTn>
                  </p:par>
                  <p:par>
                    <p:cTn id="48" presetID="10" presetClass="entr" presetSubtype="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49" dur="1" fill="hold"/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0" dur="420" fill="hold"/>
                            <p:tgtEl>
                              <p:spTgt spid="13"/>
                            </p:tgtEl>
                          </p:cBhvr>
                        </p:animEffect>
                      </p:childTnLst>
                    </p:cTn>
                  </p:par>
                  <p:par>
                    <p:cTn id="51" presetID="10" presetClass="entr" presetSubtype="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52" dur="1" fill="hold"/>
                            <p:tgtEl>
                              <p:spTgt spid="1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3" dur="420" fill="hold"/>
                            <p:tgtEl>
                              <p:spTgt spid="12"/>
                            </p:tgtEl>
                          </p:cBhvr>
                        </p:animEffect>
                      </p:childTnLst>
                    </p:cTn>
                  </p:par>
                  <p:par>
                    <p:cTn id="54" presetID="10" presetClass="entr" presetSubtype="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55" dur="1" fill="hold"/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6" dur="420" fill="hold"/>
                            <p:tgtEl>
                              <p:spTgt spid="21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3" grpId="0"/>
      <p:bldP spid="4" grpId="0"/>
      <p:bldP spid="5" grpId="0"/>
      <p:bldP spid="6" grpId="0"/>
      <p:bldP spid="14" grpId="0"/>
      <p:bldP spid="7" grpId="0"/>
      <p:bldP spid="15" grpId="0"/>
      <p:bldP spid="9" grpId="0"/>
      <p:bldP spid="16" grpId="0"/>
      <p:bldP spid="17" grpId="0"/>
      <p:bldP spid="8" grpId="0"/>
      <p:bldP spid="11" grpId="0"/>
      <p:bldP spid="10" grpId="0"/>
      <p:bldP spid="18" grpId="0"/>
      <p:bldP spid="19" grpId="0"/>
      <p:bldP spid="13" grpId="0"/>
      <p:bldP spid="12" grpId="0"/>
      <p:bldP spid="2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wide_cinematic_futuristic_tech_themed_digital_il.png">    </p:cNvPr>
          <p:cNvPicPr>
            <a:picLocks noChangeAspect="1"/>
          </p:cNvPicPr>
          <p:nvPr/>
        </p:nvPicPr>
        <p:blipFill>
          <a:blip r:embed="rId1"/>
          <a:srcRect l="0" r="0"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47472"/>
            <a:ext cx="7498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Projektmenedzsment alapok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566928" y="86868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CBD5E1"/>
                </a:solidFill>
              </a:rPr>
              <a:t>Cél: a projektmunka fogalmának, történetének és fő szakaszainak összefoglalása.</a:t>
            </a:r>
            <a:endParaRPr lang="en-US" sz="880" dirty="0"/>
          </a:p>
        </p:txBody>
      </p:sp>
      <p:sp>
        <p:nvSpPr>
          <p:cNvPr id="5" name="Shape 2"/>
          <p:cNvSpPr/>
          <p:nvPr/>
        </p:nvSpPr>
        <p:spPr>
          <a:xfrm>
            <a:off x="548640" y="1188720"/>
            <a:ext cx="2468880" cy="0"/>
          </a:xfrm>
          <a:prstGeom prst="line">
            <a:avLst/>
          </a:prstGeom>
          <a:noFill/>
          <a:ln w="27940">
            <a:solidFill>
              <a:srgbClr val="22D3EE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13232" y="1481328"/>
            <a:ext cx="3657600" cy="3977640"/>
          </a:xfrm>
          <a:prstGeom prst="roundRect">
            <a:avLst>
              <a:gd name="adj" fmla="val 2000"/>
            </a:avLst>
          </a:prstGeom>
          <a:solidFill>
            <a:srgbClr val="0F172A">
              <a:alpha val="96000"/>
            </a:srgbClr>
          </a:solidFill>
          <a:ln w="7620">
            <a:solidFill>
              <a:srgbClr val="334155">
                <a:alpha val="48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05840" y="173736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D3EE"/>
                </a:solidFill>
              </a:rPr>
              <a:t>Projektfázisok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1005840" y="2176272"/>
            <a:ext cx="2423160" cy="329184"/>
          </a:xfrm>
          <a:prstGeom prst="roundRect">
            <a:avLst>
              <a:gd name="adj" fmla="val 16667"/>
            </a:avLst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115568" y="2244852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0B1120"/>
                </a:solidFill>
              </a:rPr>
              <a:t>Kezdeményezés</a:t>
            </a:r>
            <a:endParaRPr lang="en-US" sz="880" dirty="0"/>
          </a:p>
        </p:txBody>
      </p:sp>
      <p:sp>
        <p:nvSpPr>
          <p:cNvPr id="10" name="Shape 7"/>
          <p:cNvSpPr/>
          <p:nvPr/>
        </p:nvSpPr>
        <p:spPr>
          <a:xfrm>
            <a:off x="1005840" y="2660904"/>
            <a:ext cx="2423160" cy="329184"/>
          </a:xfrm>
          <a:prstGeom prst="roundRect">
            <a:avLst>
              <a:gd name="adj" fmla="val 16667"/>
            </a:avLst>
          </a:prstGeom>
          <a:solidFill>
            <a:srgbClr val="14B8A6"/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115568" y="2729484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0B1120"/>
                </a:solidFill>
              </a:rPr>
              <a:t>Tervezés</a:t>
            </a:r>
            <a:endParaRPr lang="en-US" sz="880" dirty="0"/>
          </a:p>
        </p:txBody>
      </p:sp>
      <p:sp>
        <p:nvSpPr>
          <p:cNvPr id="12" name="Shape 9"/>
          <p:cNvSpPr/>
          <p:nvPr/>
        </p:nvSpPr>
        <p:spPr>
          <a:xfrm>
            <a:off x="1005840" y="3145536"/>
            <a:ext cx="2423160" cy="329184"/>
          </a:xfrm>
          <a:prstGeom prst="roundRect">
            <a:avLst>
              <a:gd name="adj" fmla="val 16667"/>
            </a:avLst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115568" y="3214116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0B1120"/>
                </a:solidFill>
              </a:rPr>
              <a:t>Végrehajtás</a:t>
            </a:r>
            <a:endParaRPr lang="en-US" sz="880" dirty="0"/>
          </a:p>
        </p:txBody>
      </p:sp>
      <p:sp>
        <p:nvSpPr>
          <p:cNvPr id="14" name="Shape 11"/>
          <p:cNvSpPr/>
          <p:nvPr/>
        </p:nvSpPr>
        <p:spPr>
          <a:xfrm>
            <a:off x="1005840" y="3630168"/>
            <a:ext cx="2423160" cy="329184"/>
          </a:xfrm>
          <a:prstGeom prst="roundRect">
            <a:avLst>
              <a:gd name="adj" fmla="val 16667"/>
            </a:avLst>
          </a:prstGeom>
          <a:solidFill>
            <a:srgbClr val="14B8A6"/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115568" y="3698748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0B1120"/>
                </a:solidFill>
              </a:rPr>
              <a:t>Monitoring és ellenőrzés</a:t>
            </a:r>
            <a:endParaRPr lang="en-US" sz="880" dirty="0"/>
          </a:p>
        </p:txBody>
      </p:sp>
      <p:sp>
        <p:nvSpPr>
          <p:cNvPr id="16" name="Shape 13"/>
          <p:cNvSpPr/>
          <p:nvPr/>
        </p:nvSpPr>
        <p:spPr>
          <a:xfrm>
            <a:off x="1005840" y="4114800"/>
            <a:ext cx="2423160" cy="329184"/>
          </a:xfrm>
          <a:prstGeom prst="roundRect">
            <a:avLst>
              <a:gd name="adj" fmla="val 16667"/>
            </a:avLst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115568" y="4183380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0B1120"/>
                </a:solidFill>
              </a:rPr>
              <a:t>Lezárás</a:t>
            </a:r>
            <a:endParaRPr lang="en-US" sz="880" dirty="0"/>
          </a:p>
        </p:txBody>
      </p:sp>
      <p:sp>
        <p:nvSpPr>
          <p:cNvPr id="18" name="Shape 15"/>
          <p:cNvSpPr/>
          <p:nvPr/>
        </p:nvSpPr>
        <p:spPr>
          <a:xfrm>
            <a:off x="4754880" y="1481328"/>
            <a:ext cx="6629400" cy="3977640"/>
          </a:xfrm>
          <a:prstGeom prst="roundRect">
            <a:avLst>
              <a:gd name="adj" fmla="val 1839"/>
            </a:avLst>
          </a:prstGeom>
          <a:solidFill>
            <a:srgbClr val="0F172A">
              <a:alpha val="92000"/>
            </a:srgbClr>
          </a:solidFill>
          <a:ln w="7620">
            <a:solidFill>
              <a:srgbClr val="334155">
                <a:alpha val="4800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074920" y="17373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D3EE"/>
                </a:solidFill>
              </a:rPr>
              <a:t>Adatok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5074920" y="2203704"/>
            <a:ext cx="73152" cy="7315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239512" y="2148840"/>
            <a:ext cx="53035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F8FAFC"/>
                </a:solidFill>
              </a:rPr>
              <a:t>Téma: projektoktatás és projektmunka áttekintése.</a:t>
            </a:r>
            <a:endParaRPr lang="en-US" sz="1020" dirty="0"/>
          </a:p>
        </p:txBody>
      </p:sp>
      <p:sp>
        <p:nvSpPr>
          <p:cNvPr id="22" name="Shape 19"/>
          <p:cNvSpPr/>
          <p:nvPr/>
        </p:nvSpPr>
        <p:spPr>
          <a:xfrm>
            <a:off x="5074920" y="2660904"/>
            <a:ext cx="73152" cy="7315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239512" y="2606040"/>
            <a:ext cx="53035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F8FAFC"/>
                </a:solidFill>
              </a:rPr>
              <a:t>Tartalom: történeti háttér, projektfázisok, digitális eszközök.</a:t>
            </a:r>
            <a:endParaRPr lang="en-US" sz="1020" dirty="0"/>
          </a:p>
        </p:txBody>
      </p:sp>
      <p:sp>
        <p:nvSpPr>
          <p:cNvPr id="24" name="Shape 21"/>
          <p:cNvSpPr/>
          <p:nvPr/>
        </p:nvSpPr>
        <p:spPr>
          <a:xfrm>
            <a:off x="5074920" y="3118104"/>
            <a:ext cx="73152" cy="7315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239512" y="3063240"/>
            <a:ext cx="53035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F8FAFC"/>
                </a:solidFill>
              </a:rPr>
              <a:t>Időtartam: 2025. november, rövid dokumentációs feladat.</a:t>
            </a:r>
            <a:endParaRPr lang="en-US" sz="1020" dirty="0"/>
          </a:p>
        </p:txBody>
      </p:sp>
      <p:sp>
        <p:nvSpPr>
          <p:cNvPr id="26" name="Shape 23"/>
          <p:cNvSpPr/>
          <p:nvPr/>
        </p:nvSpPr>
        <p:spPr>
          <a:xfrm>
            <a:off x="5074920" y="3575304"/>
            <a:ext cx="73152" cy="7315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239512" y="3520440"/>
            <a:ext cx="53035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F8FAFC"/>
                </a:solidFill>
              </a:rPr>
              <a:t>Értékelés: rendezett alapanyag, bemutatóhoz jól tömöríthető.</a:t>
            </a:r>
            <a:endParaRPr lang="en-US" sz="1020" dirty="0"/>
          </a:p>
        </p:txBody>
      </p:sp>
      <p:sp>
        <p:nvSpPr>
          <p:cNvPr id="28" name="Text 25"/>
          <p:cNvSpPr/>
          <p:nvPr/>
        </p:nvSpPr>
        <p:spPr>
          <a:xfrm>
            <a:off x="5074920" y="4160520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F8FAFC"/>
                </a:solidFill>
              </a:rPr>
              <a:t>Készítők: Zellei Milán, Pető Gergő, Vida-Szűcs Dominik</a:t>
            </a:r>
            <a:endParaRPr lang="en-US" sz="980" dirty="0"/>
          </a:p>
        </p:txBody>
      </p:sp>
      <p:sp>
        <p:nvSpPr>
          <p:cNvPr id="29" name="Text 26">
            <a:hlinkClick r:id="rId2" tooltip=""/>
          </p:cNvPr>
          <p:cNvSpPr/>
          <p:nvPr/>
        </p:nvSpPr>
        <p:spPr>
          <a:xfrm>
            <a:off x="5074920" y="461772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u="sng" dirty="0">
                <a:solidFill>
                  <a:srgbClr val="22D3EE"/>
                </a:solidFill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Elérhető: GitHub / 20251114-proj</a:t>
            </a:r>
            <a:endParaRPr lang="en-US" sz="920" dirty="0"/>
          </a:p>
        </p:txBody>
      </p:sp>
      <p:sp>
        <p:nvSpPr>
          <p:cNvPr id="30" name="Text 27"/>
          <p:cNvSpPr/>
          <p:nvPr/>
        </p:nvSpPr>
        <p:spPr>
          <a:xfrm>
            <a:off x="6492240" y="6473952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70" dirty="0">
                <a:solidFill>
                  <a:srgbClr val="64748B"/>
                </a:solidFill>
              </a:rPr>
              <a:t>Forrás: GitHub kk.txt</a:t>
            </a:r>
            <a:endParaRPr lang="en-US" sz="670" dirty="0"/>
          </a:p>
        </p:txBody>
      </p:sp>
      <p:sp>
        <p:nvSpPr>
          <p:cNvPr id="31" name="Text 28"/>
          <p:cNvSpPr/>
          <p:nvPr/>
        </p:nvSpPr>
        <p:spPr>
          <a:xfrm>
            <a:off x="548640" y="6473952"/>
            <a:ext cx="5120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94A3B8"/>
                </a:solidFill>
              </a:rPr>
              <a:t>Zellei Milán • Projektösszefoglaló • 2026.09.07.</a:t>
            </a:r>
            <a:endParaRPr lang="en-US" sz="720" dirty="0"/>
          </a:p>
        </p:txBody>
      </p:sp>
      <p:sp>
        <p:nvSpPr>
          <p:cNvPr id="32" name="Text 29"/>
          <p:cNvSpPr/>
          <p:nvPr/>
        </p:nvSpPr>
        <p:spPr>
          <a:xfrm>
            <a:off x="11292840" y="6464808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94A3B8"/>
                </a:solidFill>
              </a:rPr>
              <a:t>4</a:t>
            </a:r>
            <a:endParaRPr lang="en-US" sz="72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presetID="10" presetClass="entr" presetSubtype="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4" dur="1" fill="hold"/>
                            <p:tgtEl>
                              <p:spTgt spid="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" dur="420" fill="hold"/>
                            <p:tgtEl>
                              <p:spTgt spid="3"/>
                            </p:tgtEl>
                          </p:cBhvr>
                        </p:animEffect>
                      </p:childTnLst>
                    </p:cTn>
                  </p:par>
                  <p:par>
                    <p:cTn id="6" presetID="10" presetClass="entr" presetSubtype="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7" dur="1" fill="hold"/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8" dur="420" fill="hold"/>
                            <p:tgtEl>
                              <p:spTgt spid="4"/>
                            </p:tgtEl>
                          </p:cBhvr>
                        </p:animEffect>
                      </p:childTnLst>
                    </p:cTn>
                  </p:par>
                  <p:par>
                    <p:cTn id="9" presetID="10" presetClass="entr" presetSubtype="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10" dur="1" fill="hold"/>
                            <p:tgtEl>
                              <p:spTgt spid="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1" dur="420" fill="hold"/>
                            <p:tgtEl>
                              <p:spTgt spid="5"/>
                            </p:tgtEl>
                          </p:cBhvr>
                        </p:animEffect>
                      </p:childTnLst>
                    </p:cTn>
                  </p:par>
                  <p:par>
                    <p:cTn id="12" presetID="10" presetClass="entr" presetSubtype="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13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4" dur="420" fill="hold"/>
                            <p:tgtEl>
                              <p:spTgt spid="6"/>
                            </p:tgtEl>
                          </p:cBhvr>
                        </p:animEffect>
                      </p:childTnLst>
                    </p:cTn>
                  </p:par>
                  <p:par>
                    <p:cTn id="15" presetID="10" presetClass="entr" presetSubtype="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16" dur="1" fill="hold"/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7" dur="420" fill="hold"/>
                            <p:tgtEl>
                              <p:spTgt spid="18"/>
                            </p:tgtEl>
                          </p:cBhvr>
                        </p:animEffect>
                      </p:childTnLst>
                    </p:cTn>
                  </p:par>
                  <p:par>
                    <p:cTn id="18" presetID="10" presetClass="entr" presetSubtype="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19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0" dur="420" fill="hold"/>
                            <p:tgtEl>
                              <p:spTgt spid="7"/>
                            </p:tgtEl>
                          </p:cBhvr>
                        </p:animEffect>
                      </p:childTnLst>
                    </p:cTn>
                  </p:par>
                  <p:par>
                    <p:cTn id="21" presetID="10" presetClass="entr" presetSubtype="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22" dur="1" fill="hold"/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3" dur="420" fill="hold"/>
                            <p:tgtEl>
                              <p:spTgt spid="19"/>
                            </p:tgtEl>
                          </p:cBhvr>
                        </p:animEffect>
                      </p:childTnLst>
                    </p:cTn>
                  </p:par>
                  <p:par>
                    <p:cTn id="24" presetID="10" presetClass="entr" presetSubtype="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25" dur="1" fill="hold"/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6" dur="420" fill="hold"/>
                            <p:tgtEl>
                              <p:spTgt spid="21"/>
                            </p:tgtEl>
                          </p:cBhvr>
                        </p:animEffect>
                      </p:childTnLst>
                    </p:cTn>
                  </p:par>
                  <p:par>
                    <p:cTn id="27" presetID="10" presetClass="entr" presetSubtype="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28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9" dur="420" fill="hold"/>
                            <p:tgtEl>
                              <p:spTgt spid="8"/>
                            </p:tgtEl>
                          </p:cBhvr>
                        </p:animEffect>
                      </p:childTnLst>
                    </p:cTn>
                  </p:par>
                  <p:par>
                    <p:cTn id="30" presetID="10" presetClass="entr" presetSubtype="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31" dur="1" fill="hold"/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2" dur="420" fill="hold"/>
                            <p:tgtEl>
                              <p:spTgt spid="20"/>
                            </p:tgtEl>
                          </p:cBhvr>
                        </p:animEffect>
                      </p:childTnLst>
                    </p:cTn>
                  </p:par>
                  <p:par>
                    <p:cTn id="33" presetID="10" presetClass="entr" presetSubtype="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34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5" dur="420" fill="hold"/>
                            <p:tgtEl>
                              <p:spTgt spid="9"/>
                            </p:tgtEl>
                          </p:cBhvr>
                        </p:animEffect>
                      </p:childTnLst>
                    </p:cTn>
                  </p:par>
                  <p:par>
                    <p:cTn id="36" presetID="10" presetClass="entr" presetSubtype="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37" dur="1" fill="hold"/>
                            <p:tgtEl>
                              <p:spTgt spid="2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8" dur="420" fill="hold"/>
                            <p:tgtEl>
                              <p:spTgt spid="23"/>
                            </p:tgtEl>
                          </p:cBhvr>
                        </p:animEffect>
                      </p:childTnLst>
                    </p:cTn>
                  </p:par>
                  <p:par>
                    <p:cTn id="39" presetID="10" presetClass="entr" presetSubtype="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40" dur="1" fill="hold"/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41" dur="420" fill="hold"/>
                            <p:tgtEl>
                              <p:spTgt spid="10"/>
                            </p:tgtEl>
                          </p:cBhvr>
                        </p:animEffect>
                      </p:childTnLst>
                    </p:cTn>
                  </p:par>
                  <p:par>
                    <p:cTn id="42" presetID="10" presetClass="entr" presetSubtype="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43" dur="1" fill="hold"/>
                            <p:tgtEl>
                              <p:spTgt spid="2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44" dur="420" fill="hold"/>
                            <p:tgtEl>
                              <p:spTgt spid="22"/>
                            </p:tgtEl>
                          </p:cBhvr>
                        </p:animEffect>
                      </p:childTnLst>
                    </p:cTn>
                  </p:par>
                  <p:par>
                    <p:cTn id="45" presetID="10" presetClass="entr" presetSubtype="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46" dur="1" fill="hold"/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47" dur="420" fill="hold"/>
                            <p:tgtEl>
                              <p:spTgt spid="11"/>
                            </p:tgtEl>
                          </p:cBhvr>
                        </p:animEffect>
                      </p:childTnLst>
                    </p:cTn>
                  </p:par>
                  <p:par>
                    <p:cTn id="48" presetID="10" presetClass="entr" presetSubtype="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49" dur="1" fill="hold"/>
                            <p:tgtEl>
                              <p:spTgt spid="2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0" dur="420" fill="hold"/>
                            <p:tgtEl>
                              <p:spTgt spid="25"/>
                            </p:tgtEl>
                          </p:cBhvr>
                        </p:animEffect>
                      </p:childTnLst>
                    </p:cTn>
                  </p:par>
                  <p:par>
                    <p:cTn id="51" presetID="10" presetClass="entr" presetSubtype="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52" dur="1" fill="hold"/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3" dur="420" fill="hold"/>
                            <p:tgtEl>
                              <p:spTgt spid="24"/>
                            </p:tgtEl>
                          </p:cBhvr>
                        </p:animEffect>
                      </p:childTnLst>
                    </p:cTn>
                  </p:par>
                  <p:par>
                    <p:cTn id="54" presetID="10" presetClass="entr" presetSubtype="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55" dur="1" fill="hold"/>
                            <p:tgtEl>
                              <p:spTgt spid="1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6" dur="420" fill="hold"/>
                            <p:tgtEl>
                              <p:spTgt spid="12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3" grpId="0"/>
      <p:bldP spid="4" grpId="0"/>
      <p:bldP spid="5" grpId="0"/>
      <p:bldP spid="6" grpId="0"/>
      <p:bldP spid="18" grpId="0"/>
      <p:bldP spid="7" grpId="0"/>
      <p:bldP spid="19" grpId="0"/>
      <p:bldP spid="21" grpId="0"/>
      <p:bldP spid="8" grpId="0"/>
      <p:bldP spid="20" grpId="0"/>
      <p:bldP spid="9" grpId="0"/>
      <p:bldP spid="23" grpId="0"/>
      <p:bldP spid="10" grpId="0"/>
      <p:bldP spid="22" grpId="0"/>
      <p:bldP spid="11" grpId="0"/>
      <p:bldP spid="25" grpId="0"/>
      <p:bldP spid="24" grpId="0"/>
      <p:bldP spid="1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wide_cinematic_modern_tech_themed_illustration.png">    </p:cNvPr>
          <p:cNvPicPr>
            <a:picLocks noChangeAspect="1"/>
          </p:cNvPicPr>
          <p:nvPr/>
        </p:nvPicPr>
        <p:blipFill>
          <a:blip r:embed="rId1"/>
          <a:srcRect l="0" r="0"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47472"/>
            <a:ext cx="7498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Multi-Projekt Portfólió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566928" y="86868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CBD5E1"/>
                </a:solidFill>
              </a:rPr>
              <a:t>Négy különálló informatikai feladat egy közös portfólióban.</a:t>
            </a:r>
            <a:endParaRPr lang="en-US" sz="880" dirty="0"/>
          </a:p>
        </p:txBody>
      </p:sp>
      <p:sp>
        <p:nvSpPr>
          <p:cNvPr id="5" name="Shape 2"/>
          <p:cNvSpPr/>
          <p:nvPr/>
        </p:nvSpPr>
        <p:spPr>
          <a:xfrm>
            <a:off x="548640" y="1188720"/>
            <a:ext cx="2468880" cy="0"/>
          </a:xfrm>
          <a:prstGeom prst="line">
            <a:avLst/>
          </a:prstGeom>
          <a:noFill/>
          <a:ln w="27940">
            <a:solidFill>
              <a:srgbClr val="22D3EE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13232" y="1517904"/>
            <a:ext cx="5166360" cy="1481328"/>
          </a:xfrm>
          <a:prstGeom prst="roundRect">
            <a:avLst>
              <a:gd name="adj" fmla="val 4938"/>
            </a:avLst>
          </a:prstGeom>
          <a:solidFill>
            <a:srgbClr val="0F172A">
              <a:alpha val="95000"/>
            </a:srgbClr>
          </a:solidFill>
          <a:ln w="7620">
            <a:solidFill>
              <a:srgbClr val="334155">
                <a:alpha val="48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87552" y="1746504"/>
            <a:ext cx="4023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D3EE"/>
                </a:solidFill>
              </a:rPr>
              <a:t>Iskolai jegykezelő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987552" y="217627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F8FAFC"/>
                </a:solidFill>
              </a:rPr>
              <a:t>Python konzolos rendszer tanári és diák jogosultságokkal.</a:t>
            </a:r>
            <a:endParaRPr lang="en-US" sz="1010" dirty="0"/>
          </a:p>
        </p:txBody>
      </p:sp>
      <p:sp>
        <p:nvSpPr>
          <p:cNvPr id="9" name="Shape 6"/>
          <p:cNvSpPr/>
          <p:nvPr/>
        </p:nvSpPr>
        <p:spPr>
          <a:xfrm>
            <a:off x="713232" y="3429000"/>
            <a:ext cx="5166360" cy="1481328"/>
          </a:xfrm>
          <a:prstGeom prst="roundRect">
            <a:avLst>
              <a:gd name="adj" fmla="val 4938"/>
            </a:avLst>
          </a:prstGeom>
          <a:solidFill>
            <a:srgbClr val="0F172A">
              <a:alpha val="95000"/>
            </a:srgbClr>
          </a:solidFill>
          <a:ln w="7620">
            <a:solidFill>
              <a:srgbClr val="334155">
                <a:alpha val="48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87552" y="3657600"/>
            <a:ext cx="4023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To-Do alkalmazás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987552" y="4087368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F8FAFC"/>
                </a:solidFill>
              </a:rPr>
              <a:t>Határidős feladatkezelő JSON mentéssel.</a:t>
            </a:r>
            <a:endParaRPr lang="en-US" sz="1010" dirty="0"/>
          </a:p>
        </p:txBody>
      </p:sp>
      <p:sp>
        <p:nvSpPr>
          <p:cNvPr id="12" name="Shape 9"/>
          <p:cNvSpPr/>
          <p:nvPr/>
        </p:nvSpPr>
        <p:spPr>
          <a:xfrm>
            <a:off x="6327648" y="1517904"/>
            <a:ext cx="5166360" cy="1481328"/>
          </a:xfrm>
          <a:prstGeom prst="roundRect">
            <a:avLst>
              <a:gd name="adj" fmla="val 4938"/>
            </a:avLst>
          </a:prstGeom>
          <a:solidFill>
            <a:srgbClr val="0F172A">
              <a:alpha val="95000"/>
            </a:srgbClr>
          </a:solidFill>
          <a:ln w="7620">
            <a:solidFill>
              <a:srgbClr val="334155">
                <a:alpha val="4800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601968" y="1746504"/>
            <a:ext cx="4023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D3EE"/>
                </a:solidFill>
              </a:rPr>
              <a:t>Mastermind játék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601968" y="217627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F8FAFC"/>
                </a:solidFill>
              </a:rPr>
              <a:t>Számkitaláló logikai játék validációval és eredménylistával.</a:t>
            </a:r>
            <a:endParaRPr lang="en-US" sz="1010" dirty="0"/>
          </a:p>
        </p:txBody>
      </p:sp>
      <p:sp>
        <p:nvSpPr>
          <p:cNvPr id="15" name="Shape 12"/>
          <p:cNvSpPr/>
          <p:nvPr/>
        </p:nvSpPr>
        <p:spPr>
          <a:xfrm>
            <a:off x="6327648" y="3429000"/>
            <a:ext cx="5166360" cy="1481328"/>
          </a:xfrm>
          <a:prstGeom prst="roundRect">
            <a:avLst>
              <a:gd name="adj" fmla="val 4938"/>
            </a:avLst>
          </a:prstGeom>
          <a:solidFill>
            <a:srgbClr val="0F172A">
              <a:alpha val="95000"/>
            </a:srgbClr>
          </a:solidFill>
          <a:ln w="7620">
            <a:solidFill>
              <a:srgbClr val="334155">
                <a:alpha val="4800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601968" y="3657600"/>
            <a:ext cx="4023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Üzleti weboldal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6601968" y="4087368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F8FAFC"/>
                </a:solidFill>
              </a:rPr>
              <a:t>Bootstrap 5 alapú reszponzív bemutatkozó oldal.</a:t>
            </a:r>
            <a:endParaRPr lang="en-US" sz="1010" dirty="0"/>
          </a:p>
        </p:txBody>
      </p:sp>
      <p:sp>
        <p:nvSpPr>
          <p:cNvPr id="18" name="Text 15"/>
          <p:cNvSpPr/>
          <p:nvPr/>
        </p:nvSpPr>
        <p:spPr>
          <a:xfrm>
            <a:off x="731520" y="5184648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Időtartam: 2026.02.22–2026.03.05. • Státusz: elkészült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731520" y="5513832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Készítők: Zellei Milán, Pető Gergő, Vida-Szűcs Dominik</a:t>
            </a:r>
            <a:endParaRPr lang="en-US" sz="1050" dirty="0"/>
          </a:p>
        </p:txBody>
      </p:sp>
      <p:sp>
        <p:nvSpPr>
          <p:cNvPr id="20" name="Text 17">
            <a:hlinkClick r:id="rId2" tooltip=""/>
          </p:cNvPr>
          <p:cNvSpPr/>
          <p:nvPr/>
        </p:nvSpPr>
        <p:spPr>
          <a:xfrm>
            <a:off x="6446520" y="533095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u="sng" dirty="0">
                <a:solidFill>
                  <a:srgbClr val="22D3EE"/>
                </a:solidFill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Elérhető: GitHub / 2026-02-26-projekt</a:t>
            </a:r>
            <a:endParaRPr lang="en-US" sz="920" dirty="0"/>
          </a:p>
        </p:txBody>
      </p:sp>
      <p:sp>
        <p:nvSpPr>
          <p:cNvPr id="21" name="Text 18"/>
          <p:cNvSpPr/>
          <p:nvPr/>
        </p:nvSpPr>
        <p:spPr>
          <a:xfrm>
            <a:off x="6446520" y="568756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8FAFC"/>
                </a:solidFill>
              </a:rPr>
              <a:t>Értékelés: komplex, több technológiát érintő feladatcsomag; erős pont a változatos megoldáskészlet.</a:t>
            </a:r>
            <a:endParaRPr lang="en-US" sz="970" dirty="0"/>
          </a:p>
        </p:txBody>
      </p:sp>
      <p:sp>
        <p:nvSpPr>
          <p:cNvPr id="22" name="Text 19"/>
          <p:cNvSpPr/>
          <p:nvPr/>
        </p:nvSpPr>
        <p:spPr>
          <a:xfrm>
            <a:off x="6492240" y="6473952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70" dirty="0">
                <a:solidFill>
                  <a:srgbClr val="64748B"/>
                </a:solidFill>
              </a:rPr>
              <a:t>Forrás: GitHub README</a:t>
            </a:r>
            <a:endParaRPr lang="en-US" sz="670" dirty="0"/>
          </a:p>
        </p:txBody>
      </p:sp>
      <p:sp>
        <p:nvSpPr>
          <p:cNvPr id="23" name="Text 20"/>
          <p:cNvSpPr/>
          <p:nvPr/>
        </p:nvSpPr>
        <p:spPr>
          <a:xfrm>
            <a:off x="548640" y="6473952"/>
            <a:ext cx="5120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94A3B8"/>
                </a:solidFill>
              </a:rPr>
              <a:t>Zellei Milán • Projektösszefoglaló • 2026.09.07.</a:t>
            </a:r>
            <a:endParaRPr lang="en-US" sz="720" dirty="0"/>
          </a:p>
        </p:txBody>
      </p:sp>
      <p:sp>
        <p:nvSpPr>
          <p:cNvPr id="24" name="Text 21"/>
          <p:cNvSpPr/>
          <p:nvPr/>
        </p:nvSpPr>
        <p:spPr>
          <a:xfrm>
            <a:off x="11292840" y="6464808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94A3B8"/>
                </a:solidFill>
              </a:rPr>
              <a:t>5</a:t>
            </a:r>
            <a:endParaRPr lang="en-US" sz="72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presetID="10" presetClass="entr" presetSubtype="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4" dur="1" fill="hold"/>
                            <p:tgtEl>
                              <p:spTgt spid="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" dur="420" fill="hold"/>
                            <p:tgtEl>
                              <p:spTgt spid="3"/>
                            </p:tgtEl>
                          </p:cBhvr>
                        </p:animEffect>
                      </p:childTnLst>
                    </p:cTn>
                  </p:par>
                  <p:par>
                    <p:cTn id="6" presetID="10" presetClass="entr" presetSubtype="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7" dur="1" fill="hold"/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8" dur="420" fill="hold"/>
                            <p:tgtEl>
                              <p:spTgt spid="4"/>
                            </p:tgtEl>
                          </p:cBhvr>
                        </p:animEffect>
                      </p:childTnLst>
                    </p:cTn>
                  </p:par>
                  <p:par>
                    <p:cTn id="9" presetID="10" presetClass="entr" presetSubtype="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10" dur="1" fill="hold"/>
                            <p:tgtEl>
                              <p:spTgt spid="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1" dur="420" fill="hold"/>
                            <p:tgtEl>
                              <p:spTgt spid="5"/>
                            </p:tgtEl>
                          </p:cBhvr>
                        </p:animEffect>
                      </p:childTnLst>
                    </p:cTn>
                  </p:par>
                  <p:par>
                    <p:cTn id="12" presetID="10" presetClass="entr" presetSubtype="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13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4" dur="420" fill="hold"/>
                            <p:tgtEl>
                              <p:spTgt spid="6"/>
                            </p:tgtEl>
                          </p:cBhvr>
                        </p:animEffect>
                      </p:childTnLst>
                    </p:cTn>
                  </p:par>
                  <p:par>
                    <p:cTn id="15" presetID="10" presetClass="entr" presetSubtype="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16" dur="1" fill="hold"/>
                            <p:tgtEl>
                              <p:spTgt spid="1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7" dur="420" fill="hold"/>
                            <p:tgtEl>
                              <p:spTgt spid="12"/>
                            </p:tgtEl>
                          </p:cBhvr>
                        </p:animEffect>
                      </p:childTnLst>
                    </p:cTn>
                  </p:par>
                  <p:par>
                    <p:cTn id="18" presetID="10" presetClass="entr" presetSubtype="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19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0" dur="420" fill="hold"/>
                            <p:tgtEl>
                              <p:spTgt spid="7"/>
                            </p:tgtEl>
                          </p:cBhvr>
                        </p:animEffect>
                      </p:childTnLst>
                    </p:cTn>
                  </p:par>
                  <p:par>
                    <p:cTn id="21" presetID="10" presetClass="entr" presetSubtype="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22" dur="1" fill="hold"/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3" dur="420" fill="hold"/>
                            <p:tgtEl>
                              <p:spTgt spid="13"/>
                            </p:tgtEl>
                          </p:cBhvr>
                        </p:animEffect>
                      </p:childTnLst>
                    </p:cTn>
                  </p:par>
                  <p:par>
                    <p:cTn id="24" presetID="10" presetClass="entr" presetSubtype="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25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6" dur="420" fill="hold"/>
                            <p:tgtEl>
                              <p:spTgt spid="8"/>
                            </p:tgtEl>
                          </p:cBhvr>
                        </p:animEffect>
                      </p:childTnLst>
                    </p:cTn>
                  </p:par>
                  <p:par>
                    <p:cTn id="27" presetID="10" presetClass="entr" presetSubtype="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28" dur="1" fill="hold"/>
                            <p:tgtEl>
                              <p:spTgt spid="1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9" dur="420" fill="hold"/>
                            <p:tgtEl>
                              <p:spTgt spid="14"/>
                            </p:tgtEl>
                          </p:cBhvr>
                        </p:animEffect>
                      </p:childTnLst>
                    </p:cTn>
                  </p:par>
                  <p:par>
                    <p:cTn id="30" presetID="10" presetClass="entr" presetSubtype="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31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2" dur="420" fill="hold"/>
                            <p:tgtEl>
                              <p:spTgt spid="9"/>
                            </p:tgtEl>
                          </p:cBhvr>
                        </p:animEffect>
                      </p:childTnLst>
                    </p:cTn>
                  </p:par>
                  <p:par>
                    <p:cTn id="33" presetID="10" presetClass="entr" presetSubtype="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34" dur="1" fill="hold"/>
                            <p:tgtEl>
                              <p:spTgt spid="1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5" dur="420" fill="hold"/>
                            <p:tgtEl>
                              <p:spTgt spid="15"/>
                            </p:tgtEl>
                          </p:cBhvr>
                        </p:animEffect>
                      </p:childTnLst>
                    </p:cTn>
                  </p:par>
                  <p:par>
                    <p:cTn id="36" presetID="10" presetClass="entr" presetSubtype="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37" dur="1" fill="hold"/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8" dur="420" fill="hold"/>
                            <p:tgtEl>
                              <p:spTgt spid="10"/>
                            </p:tgtEl>
                          </p:cBhvr>
                        </p:animEffect>
                      </p:childTnLst>
                    </p:cTn>
                  </p:par>
                  <p:par>
                    <p:cTn id="39" presetID="10" presetClass="entr" presetSubtype="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40" dur="1" fill="hold"/>
                            <p:tgtEl>
                              <p:spTgt spid="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41" dur="420" fill="hold"/>
                            <p:tgtEl>
                              <p:spTgt spid="16"/>
                            </p:tgtEl>
                          </p:cBhvr>
                        </p:animEffect>
                      </p:childTnLst>
                    </p:cTn>
                  </p:par>
                  <p:par>
                    <p:cTn id="42" presetID="10" presetClass="entr" presetSubtype="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43" dur="1" fill="hold"/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44" dur="420" fill="hold"/>
                            <p:tgtEl>
                              <p:spTgt spid="11"/>
                            </p:tgtEl>
                          </p:cBhvr>
                        </p:animEffect>
                      </p:childTnLst>
                    </p:cTn>
                  </p:par>
                  <p:par>
                    <p:cTn id="45" presetID="10" presetClass="entr" presetSubtype="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46" dur="1" fill="hold"/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47" dur="420" fill="hold"/>
                            <p:tgtEl>
                              <p:spTgt spid="17"/>
                            </p:tgtEl>
                          </p:cBhvr>
                        </p:animEffect>
                      </p:childTnLst>
                    </p:cTn>
                  </p:par>
                  <p:par>
                    <p:cTn id="48" presetID="10" presetClass="entr" presetSubtype="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49" dur="1" fill="hold"/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0" dur="420" fill="hold"/>
                            <p:tgtEl>
                              <p:spTgt spid="18"/>
                            </p:tgtEl>
                          </p:cBhvr>
                        </p:animEffect>
                      </p:childTnLst>
                    </p:cTn>
                  </p:par>
                  <p:par>
                    <p:cTn id="51" presetID="10" presetClass="entr" presetSubtype="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52" dur="1" fill="hold"/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3" dur="420" fill="hold"/>
                            <p:tgtEl>
                              <p:spTgt spid="20"/>
                            </p:tgtEl>
                          </p:cBhvr>
                        </p:animEffect>
                      </p:childTnLst>
                    </p:cTn>
                  </p:par>
                  <p:par>
                    <p:cTn id="54" presetID="10" presetClass="entr" presetSubtype="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55" dur="1" fill="hold"/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6" dur="420" fill="hold"/>
                            <p:tgtEl>
                              <p:spTgt spid="19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3" grpId="0"/>
      <p:bldP spid="4" grpId="0"/>
      <p:bldP spid="5" grpId="0"/>
      <p:bldP spid="6" grpId="0"/>
      <p:bldP spid="12" grpId="0"/>
      <p:bldP spid="7" grpId="0"/>
      <p:bldP spid="13" grpId="0"/>
      <p:bldP spid="8" grpId="0"/>
      <p:bldP spid="14" grpId="0"/>
      <p:bldP spid="9" grpId="0"/>
      <p:bldP spid="15" grpId="0"/>
      <p:bldP spid="10" grpId="0"/>
      <p:bldP spid="16" grpId="0"/>
      <p:bldP spid="11" grpId="0"/>
      <p:bldP spid="17" grpId="0"/>
      <p:bldP spid="18" grpId="0"/>
      <p:bldP spid="20" grpId="0"/>
      <p:bldP spid="1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wide_dark_futuristic_tech_themed_illustration.png">    </p:cNvPr>
          <p:cNvPicPr>
            <a:picLocks noChangeAspect="1"/>
          </p:cNvPicPr>
          <p:nvPr/>
        </p:nvPicPr>
        <p:blipFill>
          <a:blip r:embed="rId1"/>
          <a:srcRect l="0" r="0"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47472"/>
            <a:ext cx="7498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JS alapok: interaktív feladatgyűjtemény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566928" y="86868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CBD5E1"/>
                </a:solidFill>
              </a:rPr>
              <a:t>Nyolc kisebb feladat a DOM-kezelés, eseménykezelés és alap algoritmusok gyakorlására.</a:t>
            </a:r>
            <a:endParaRPr lang="en-US" sz="880" dirty="0"/>
          </a:p>
        </p:txBody>
      </p:sp>
      <p:sp>
        <p:nvSpPr>
          <p:cNvPr id="5" name="Shape 2"/>
          <p:cNvSpPr/>
          <p:nvPr/>
        </p:nvSpPr>
        <p:spPr>
          <a:xfrm>
            <a:off x="548640" y="1188720"/>
            <a:ext cx="2468880" cy="0"/>
          </a:xfrm>
          <a:prstGeom prst="line">
            <a:avLst/>
          </a:prstGeom>
          <a:noFill/>
          <a:ln w="27940">
            <a:solidFill>
              <a:srgbClr val="22D3EE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85800" y="1508760"/>
            <a:ext cx="5303520" cy="4160520"/>
          </a:xfrm>
          <a:prstGeom prst="roundRect">
            <a:avLst>
              <a:gd name="adj" fmla="val 1758"/>
            </a:avLst>
          </a:prstGeom>
          <a:solidFill>
            <a:srgbClr val="0F172A">
              <a:alpha val="95000"/>
            </a:srgbClr>
          </a:solidFill>
          <a:ln w="7620">
            <a:solidFill>
              <a:srgbClr val="334155">
                <a:alpha val="48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60120" y="178308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D3EE"/>
                </a:solidFill>
              </a:rPr>
              <a:t>Fő funkciók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960120" y="2249424"/>
            <a:ext cx="73152" cy="7315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124712" y="2194560"/>
            <a:ext cx="43891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F8FAFC"/>
                </a:solidFill>
              </a:rPr>
              <a:t>Kattintáskezelés és dinamikus szövegmódosítás.</a:t>
            </a:r>
            <a:endParaRPr lang="en-US" sz="1020" dirty="0"/>
          </a:p>
        </p:txBody>
      </p:sp>
      <p:sp>
        <p:nvSpPr>
          <p:cNvPr id="10" name="Shape 7"/>
          <p:cNvSpPr/>
          <p:nvPr/>
        </p:nvSpPr>
        <p:spPr>
          <a:xfrm>
            <a:off x="960120" y="2706624"/>
            <a:ext cx="73152" cy="7315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124712" y="2651760"/>
            <a:ext cx="43891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F8FAFC"/>
                </a:solidFill>
              </a:rPr>
              <a:t>Véletlenszerű háttérszín, képgaléria és menükapcsolás.</a:t>
            </a:r>
            <a:endParaRPr lang="en-US" sz="1020" dirty="0"/>
          </a:p>
        </p:txBody>
      </p:sp>
      <p:sp>
        <p:nvSpPr>
          <p:cNvPr id="12" name="Shape 9"/>
          <p:cNvSpPr/>
          <p:nvPr/>
        </p:nvSpPr>
        <p:spPr>
          <a:xfrm>
            <a:off x="960120" y="3163824"/>
            <a:ext cx="73152" cy="7315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124712" y="3108960"/>
            <a:ext cx="43891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F8FAFC"/>
                </a:solidFill>
              </a:rPr>
              <a:t>Read More szekció, dark mode, idézetgenerátor.</a:t>
            </a:r>
            <a:endParaRPr lang="en-US" sz="1020" dirty="0"/>
          </a:p>
        </p:txBody>
      </p:sp>
      <p:sp>
        <p:nvSpPr>
          <p:cNvPr id="14" name="Shape 11"/>
          <p:cNvSpPr/>
          <p:nvPr/>
        </p:nvSpPr>
        <p:spPr>
          <a:xfrm>
            <a:off x="6309360" y="1508760"/>
            <a:ext cx="5074920" cy="4160520"/>
          </a:xfrm>
          <a:prstGeom prst="roundRect">
            <a:avLst>
              <a:gd name="adj" fmla="val 1758"/>
            </a:avLst>
          </a:prstGeom>
          <a:solidFill>
            <a:srgbClr val="0F172A">
              <a:alpha val="92000"/>
            </a:srgbClr>
          </a:solidFill>
          <a:ln w="7620">
            <a:solidFill>
              <a:srgbClr val="334155">
                <a:alpha val="48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583680" y="178308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D3EE"/>
                </a:solidFill>
              </a:rPr>
              <a:t>Adatok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583680" y="2267712"/>
            <a:ext cx="3657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F8FAFC"/>
                </a:solidFill>
              </a:rPr>
              <a:t>Időtartam: 2026.03.27., rövid órai projekt</a:t>
            </a:r>
            <a:endParaRPr lang="en-US" sz="1020" dirty="0"/>
          </a:p>
        </p:txBody>
      </p:sp>
      <p:sp>
        <p:nvSpPr>
          <p:cNvPr id="17" name="Text 14"/>
          <p:cNvSpPr/>
          <p:nvPr/>
        </p:nvSpPr>
        <p:spPr>
          <a:xfrm>
            <a:off x="6583680" y="2651760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F8FAFC"/>
                </a:solidFill>
              </a:rPr>
              <a:t>Készítők: Zellei Milán, Pető Gergő, Vida-Szűcs Dominik</a:t>
            </a:r>
            <a:endParaRPr lang="en-US" sz="980" dirty="0"/>
          </a:p>
        </p:txBody>
      </p:sp>
      <p:sp>
        <p:nvSpPr>
          <p:cNvPr id="18" name="Text 15"/>
          <p:cNvSpPr/>
          <p:nvPr/>
        </p:nvSpPr>
        <p:spPr>
          <a:xfrm>
            <a:off x="6583680" y="3154680"/>
            <a:ext cx="3977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F8FAFC"/>
                </a:solidFill>
              </a:rPr>
              <a:t>Értékelés: jól demonstrálja az alap JavaScript logikát; továbblépésként modulárisabb kódszerkezet és UI-finomítás ajánlott.</a:t>
            </a:r>
            <a:endParaRPr lang="en-US" sz="960" dirty="0"/>
          </a:p>
        </p:txBody>
      </p:sp>
      <p:sp>
        <p:nvSpPr>
          <p:cNvPr id="19" name="Text 16">
            <a:hlinkClick r:id="rId2" tooltip=""/>
          </p:cNvPr>
          <p:cNvSpPr/>
          <p:nvPr/>
        </p:nvSpPr>
        <p:spPr>
          <a:xfrm>
            <a:off x="6583680" y="427939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u="sng" dirty="0">
                <a:solidFill>
                  <a:srgbClr val="22D3EE"/>
                </a:solidFill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Elérhető: GitHub / 20260327</a:t>
            </a:r>
            <a:endParaRPr lang="en-US" sz="920" dirty="0"/>
          </a:p>
        </p:txBody>
      </p:sp>
      <p:sp>
        <p:nvSpPr>
          <p:cNvPr id="20" name="Text 17"/>
          <p:cNvSpPr/>
          <p:nvPr/>
        </p:nvSpPr>
        <p:spPr>
          <a:xfrm>
            <a:off x="6492240" y="6473952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70" dirty="0">
                <a:solidFill>
                  <a:srgbClr val="64748B"/>
                </a:solidFill>
              </a:rPr>
              <a:t>Forrás: GitHub README</a:t>
            </a:r>
            <a:endParaRPr lang="en-US" sz="670" dirty="0"/>
          </a:p>
        </p:txBody>
      </p:sp>
      <p:sp>
        <p:nvSpPr>
          <p:cNvPr id="21" name="Text 18"/>
          <p:cNvSpPr/>
          <p:nvPr/>
        </p:nvSpPr>
        <p:spPr>
          <a:xfrm>
            <a:off x="548640" y="6473952"/>
            <a:ext cx="5120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94A3B8"/>
                </a:solidFill>
              </a:rPr>
              <a:t>Zellei Milán • Projektösszefoglaló • 2026.09.07.</a:t>
            </a:r>
            <a:endParaRPr lang="en-US" sz="720" dirty="0"/>
          </a:p>
        </p:txBody>
      </p:sp>
      <p:sp>
        <p:nvSpPr>
          <p:cNvPr id="22" name="Text 19"/>
          <p:cNvSpPr/>
          <p:nvPr/>
        </p:nvSpPr>
        <p:spPr>
          <a:xfrm>
            <a:off x="11292840" y="6464808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94A3B8"/>
                </a:solidFill>
              </a:rPr>
              <a:t>6</a:t>
            </a:r>
            <a:endParaRPr lang="en-US" sz="72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presetID="10" presetClass="entr" presetSubtype="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4" dur="1" fill="hold"/>
                            <p:tgtEl>
                              <p:spTgt spid="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" dur="420" fill="hold"/>
                            <p:tgtEl>
                              <p:spTgt spid="3"/>
                            </p:tgtEl>
                          </p:cBhvr>
                        </p:animEffect>
                      </p:childTnLst>
                    </p:cTn>
                  </p:par>
                  <p:par>
                    <p:cTn id="6" presetID="10" presetClass="entr" presetSubtype="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7" dur="1" fill="hold"/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8" dur="420" fill="hold"/>
                            <p:tgtEl>
                              <p:spTgt spid="4"/>
                            </p:tgtEl>
                          </p:cBhvr>
                        </p:animEffect>
                      </p:childTnLst>
                    </p:cTn>
                  </p:par>
                  <p:par>
                    <p:cTn id="9" presetID="10" presetClass="entr" presetSubtype="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10" dur="1" fill="hold"/>
                            <p:tgtEl>
                              <p:spTgt spid="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1" dur="420" fill="hold"/>
                            <p:tgtEl>
                              <p:spTgt spid="5"/>
                            </p:tgtEl>
                          </p:cBhvr>
                        </p:animEffect>
                      </p:childTnLst>
                    </p:cTn>
                  </p:par>
                  <p:par>
                    <p:cTn id="12" presetID="10" presetClass="entr" presetSubtype="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13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4" dur="420" fill="hold"/>
                            <p:tgtEl>
                              <p:spTgt spid="6"/>
                            </p:tgtEl>
                          </p:cBhvr>
                        </p:animEffect>
                      </p:childTnLst>
                    </p:cTn>
                  </p:par>
                  <p:par>
                    <p:cTn id="15" presetID="10" presetClass="entr" presetSubtype="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16" dur="1" fill="hold"/>
                            <p:tgtEl>
                              <p:spTgt spid="1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7" dur="420" fill="hold"/>
                            <p:tgtEl>
                              <p:spTgt spid="14"/>
                            </p:tgtEl>
                          </p:cBhvr>
                        </p:animEffect>
                      </p:childTnLst>
                    </p:cTn>
                  </p:par>
                  <p:par>
                    <p:cTn id="18" presetID="10" presetClass="entr" presetSubtype="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19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0" dur="420" fill="hold"/>
                            <p:tgtEl>
                              <p:spTgt spid="7"/>
                            </p:tgtEl>
                          </p:cBhvr>
                        </p:animEffect>
                      </p:childTnLst>
                    </p:cTn>
                  </p:par>
                  <p:par>
                    <p:cTn id="21" presetID="10" presetClass="entr" presetSubtype="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22" dur="1" fill="hold"/>
                            <p:tgtEl>
                              <p:spTgt spid="1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3" dur="420" fill="hold"/>
                            <p:tgtEl>
                              <p:spTgt spid="15"/>
                            </p:tgtEl>
                          </p:cBhvr>
                        </p:animEffect>
                      </p:childTnLst>
                    </p:cTn>
                  </p:par>
                  <p:par>
                    <p:cTn id="24" presetID="10" presetClass="entr" presetSubtype="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25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6" dur="420" fill="hold"/>
                            <p:tgtEl>
                              <p:spTgt spid="9"/>
                            </p:tgtEl>
                          </p:cBhvr>
                        </p:animEffect>
                      </p:childTnLst>
                    </p:cTn>
                  </p:par>
                  <p:par>
                    <p:cTn id="27" presetID="10" presetClass="entr" presetSubtype="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28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9" dur="420" fill="hold"/>
                            <p:tgtEl>
                              <p:spTgt spid="8"/>
                            </p:tgtEl>
                          </p:cBhvr>
                        </p:animEffect>
                      </p:childTnLst>
                    </p:cTn>
                  </p:par>
                  <p:par>
                    <p:cTn id="30" presetID="10" presetClass="entr" presetSubtype="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31" dur="1" fill="hold"/>
                            <p:tgtEl>
                              <p:spTgt spid="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2" dur="420" fill="hold"/>
                            <p:tgtEl>
                              <p:spTgt spid="16"/>
                            </p:tgtEl>
                          </p:cBhvr>
                        </p:animEffect>
                      </p:childTnLst>
                    </p:cTn>
                  </p:par>
                  <p:par>
                    <p:cTn id="33" presetID="10" presetClass="entr" presetSubtype="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34" dur="1" fill="hold"/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5" dur="420" fill="hold"/>
                            <p:tgtEl>
                              <p:spTgt spid="11"/>
                            </p:tgtEl>
                          </p:cBhvr>
                        </p:animEffect>
                      </p:childTnLst>
                    </p:cTn>
                  </p:par>
                  <p:par>
                    <p:cTn id="36" presetID="10" presetClass="entr" presetSubtype="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37" dur="1" fill="hold"/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8" dur="420" fill="hold"/>
                            <p:tgtEl>
                              <p:spTgt spid="17"/>
                            </p:tgtEl>
                          </p:cBhvr>
                        </p:animEffect>
                      </p:childTnLst>
                    </p:cTn>
                  </p:par>
                  <p:par>
                    <p:cTn id="39" presetID="10" presetClass="entr" presetSubtype="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40" dur="1" fill="hold"/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41" dur="420" fill="hold"/>
                            <p:tgtEl>
                              <p:spTgt spid="10"/>
                            </p:tgtEl>
                          </p:cBhvr>
                        </p:animEffect>
                      </p:childTnLst>
                    </p:cTn>
                  </p:par>
                  <p:par>
                    <p:cTn id="42" presetID="10" presetClass="entr" presetSubtype="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43" dur="1" fill="hold"/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44" dur="420" fill="hold"/>
                            <p:tgtEl>
                              <p:spTgt spid="13"/>
                            </p:tgtEl>
                          </p:cBhvr>
                        </p:animEffect>
                      </p:childTnLst>
                    </p:cTn>
                  </p:par>
                  <p:par>
                    <p:cTn id="45" presetID="10" presetClass="entr" presetSubtype="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46" dur="1" fill="hold"/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47" dur="420" fill="hold"/>
                            <p:tgtEl>
                              <p:spTgt spid="18"/>
                            </p:tgtEl>
                          </p:cBhvr>
                        </p:animEffect>
                      </p:childTnLst>
                    </p:cTn>
                  </p:par>
                  <p:par>
                    <p:cTn id="48" presetID="10" presetClass="entr" presetSubtype="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49" dur="1" fill="hold"/>
                            <p:tgtEl>
                              <p:spTgt spid="1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0" dur="420" fill="hold"/>
                            <p:tgtEl>
                              <p:spTgt spid="12"/>
                            </p:tgtEl>
                          </p:cBhvr>
                        </p:animEffect>
                      </p:childTnLst>
                    </p:cTn>
                  </p:par>
                  <p:par>
                    <p:cTn id="51" presetID="10" presetClass="entr" presetSubtype="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52" dur="1" fill="hold"/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3" dur="420" fill="hold"/>
                            <p:tgtEl>
                              <p:spTgt spid="19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3" grpId="0"/>
      <p:bldP spid="4" grpId="0"/>
      <p:bldP spid="5" grpId="0"/>
      <p:bldP spid="6" grpId="0"/>
      <p:bldP spid="14" grpId="0"/>
      <p:bldP spid="7" grpId="0"/>
      <p:bldP spid="15" grpId="0"/>
      <p:bldP spid="9" grpId="0"/>
      <p:bldP spid="8" grpId="0"/>
      <p:bldP spid="16" grpId="0"/>
      <p:bldP spid="11" grpId="0"/>
      <p:bldP spid="17" grpId="0"/>
      <p:bldP spid="10" grpId="0"/>
      <p:bldP spid="13" grpId="0"/>
      <p:bldP spid="18" grpId="0"/>
      <p:bldP spid="12" grpId="0"/>
      <p:bldP spid="1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wide_cinematic_futuristic_tech_themed_digital_il.png">    </p:cNvPr>
          <p:cNvPicPr>
            <a:picLocks noChangeAspect="1"/>
          </p:cNvPicPr>
          <p:nvPr/>
        </p:nvPicPr>
        <p:blipFill>
          <a:blip r:embed="rId1"/>
          <a:srcRect l="0" r="0"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594360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Összegző értékelés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713232" y="1188720"/>
            <a:ext cx="2926080" cy="0"/>
          </a:xfrm>
          <a:prstGeom prst="line">
            <a:avLst/>
          </a:prstGeom>
          <a:noFill/>
          <a:ln w="31750">
            <a:solidFill>
              <a:srgbClr val="22D3EE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31520" y="1600200"/>
            <a:ext cx="3337560" cy="3291840"/>
          </a:xfrm>
          <a:prstGeom prst="roundRect">
            <a:avLst>
              <a:gd name="adj" fmla="val 2222"/>
            </a:avLst>
          </a:prstGeom>
          <a:solidFill>
            <a:srgbClr val="0F172A">
              <a:alpha val="94000"/>
            </a:srgbClr>
          </a:solidFill>
          <a:ln w="7620">
            <a:solidFill>
              <a:srgbClr val="334155">
                <a:alpha val="4800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434840" y="1600200"/>
            <a:ext cx="3337560" cy="3291840"/>
          </a:xfrm>
          <a:prstGeom prst="roundRect">
            <a:avLst>
              <a:gd name="adj" fmla="val 2222"/>
            </a:avLst>
          </a:prstGeom>
          <a:solidFill>
            <a:srgbClr val="0F172A">
              <a:alpha val="94000"/>
            </a:srgbClr>
          </a:solidFill>
          <a:ln w="7620">
            <a:solidFill>
              <a:srgbClr val="334155">
                <a:alpha val="48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138160" y="1600200"/>
            <a:ext cx="3337560" cy="3291840"/>
          </a:xfrm>
          <a:prstGeom prst="roundRect">
            <a:avLst>
              <a:gd name="adj" fmla="val 2222"/>
            </a:avLst>
          </a:prstGeom>
          <a:solidFill>
            <a:srgbClr val="0F172A">
              <a:alpha val="94000"/>
            </a:srgbClr>
          </a:solidFill>
          <a:ln w="7620">
            <a:solidFill>
              <a:srgbClr val="334155">
                <a:alpha val="48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05840" y="190195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D3EE"/>
                </a:solidFill>
              </a:rPr>
              <a:t>Erősségek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1005840" y="2505456"/>
            <a:ext cx="73152" cy="7315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170432" y="2450592"/>
            <a:ext cx="24688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F8FAFC"/>
                </a:solidFill>
              </a:rPr>
              <a:t>változatos projektportfólió</a:t>
            </a:r>
            <a:endParaRPr lang="en-US" sz="1020" dirty="0"/>
          </a:p>
        </p:txBody>
      </p:sp>
      <p:sp>
        <p:nvSpPr>
          <p:cNvPr id="11" name="Shape 8"/>
          <p:cNvSpPr/>
          <p:nvPr/>
        </p:nvSpPr>
        <p:spPr>
          <a:xfrm>
            <a:off x="1005840" y="2962656"/>
            <a:ext cx="73152" cy="7315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70432" y="2907792"/>
            <a:ext cx="24688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F8FAFC"/>
                </a:solidFill>
              </a:rPr>
              <a:t>Python, HTML, CSS, JS használata</a:t>
            </a:r>
            <a:endParaRPr lang="en-US" sz="1020" dirty="0"/>
          </a:p>
        </p:txBody>
      </p:sp>
      <p:sp>
        <p:nvSpPr>
          <p:cNvPr id="13" name="Shape 10"/>
          <p:cNvSpPr/>
          <p:nvPr/>
        </p:nvSpPr>
        <p:spPr>
          <a:xfrm>
            <a:off x="1005840" y="3419856"/>
            <a:ext cx="73152" cy="7315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170432" y="3364992"/>
            <a:ext cx="24688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F8FAFC"/>
                </a:solidFill>
              </a:rPr>
              <a:t>működő, bemutatható megoldások</a:t>
            </a:r>
            <a:endParaRPr lang="en-US" sz="1020" dirty="0"/>
          </a:p>
        </p:txBody>
      </p:sp>
      <p:sp>
        <p:nvSpPr>
          <p:cNvPr id="15" name="Text 12"/>
          <p:cNvSpPr/>
          <p:nvPr/>
        </p:nvSpPr>
        <p:spPr>
          <a:xfrm>
            <a:off x="4709160" y="190195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</a:rPr>
              <a:t>Fejlesztendő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4709160" y="2505456"/>
            <a:ext cx="73152" cy="7315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873752" y="2450592"/>
            <a:ext cx="24688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F8FAFC"/>
                </a:solidFill>
              </a:rPr>
              <a:t>egységesebb dokumentáció</a:t>
            </a:r>
            <a:endParaRPr lang="en-US" sz="1020" dirty="0"/>
          </a:p>
        </p:txBody>
      </p:sp>
      <p:sp>
        <p:nvSpPr>
          <p:cNvPr id="18" name="Shape 15"/>
          <p:cNvSpPr/>
          <p:nvPr/>
        </p:nvSpPr>
        <p:spPr>
          <a:xfrm>
            <a:off x="4709160" y="2962656"/>
            <a:ext cx="73152" cy="7315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873752" y="2907792"/>
            <a:ext cx="24688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F8FAFC"/>
                </a:solidFill>
              </a:rPr>
              <a:t>tisztább repo-struktúra</a:t>
            </a:r>
            <a:endParaRPr lang="en-US" sz="1020" dirty="0"/>
          </a:p>
        </p:txBody>
      </p:sp>
      <p:sp>
        <p:nvSpPr>
          <p:cNvPr id="20" name="Shape 17"/>
          <p:cNvSpPr/>
          <p:nvPr/>
        </p:nvSpPr>
        <p:spPr>
          <a:xfrm>
            <a:off x="4709160" y="3419856"/>
            <a:ext cx="73152" cy="7315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873752" y="3364992"/>
            <a:ext cx="24688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F8FAFC"/>
                </a:solidFill>
              </a:rPr>
              <a:t>több telepítési/futtatási leírás</a:t>
            </a:r>
            <a:endParaRPr lang="en-US" sz="1020" dirty="0"/>
          </a:p>
        </p:txBody>
      </p:sp>
      <p:sp>
        <p:nvSpPr>
          <p:cNvPr id="22" name="Text 19"/>
          <p:cNvSpPr/>
          <p:nvPr/>
        </p:nvSpPr>
        <p:spPr>
          <a:xfrm>
            <a:off x="8412480" y="190195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B8A6"/>
                </a:solidFill>
              </a:rPr>
              <a:t>Végső értékelés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8412480" y="2487168"/>
            <a:ext cx="25603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F8FAFC"/>
                </a:solidFill>
              </a:rPr>
              <a:t>A projektek tanulási szempontból sikeresek: több területet fednek le, gyakorlatiasak, és jól mutatják a fejlődést az alap webes feladatoktól a komplexebb programozási megoldásokig.</a:t>
            </a:r>
            <a:endParaRPr lang="en-US" sz="1080" dirty="0"/>
          </a:p>
        </p:txBody>
      </p:sp>
      <p:sp>
        <p:nvSpPr>
          <p:cNvPr id="24" name="Text 21"/>
          <p:cNvSpPr/>
          <p:nvPr/>
        </p:nvSpPr>
        <p:spPr>
          <a:xfrm>
            <a:off x="777240" y="580644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CBD5E1"/>
                </a:solidFill>
              </a:rPr>
              <a:t>Készítők: Zellei Milán, Pető Gergő, Vida-Szűcs Dominik</a:t>
            </a:r>
            <a:endParaRPr lang="en-US" sz="1080" dirty="0"/>
          </a:p>
        </p:txBody>
      </p:sp>
      <p:sp>
        <p:nvSpPr>
          <p:cNvPr id="25" name="Text 22"/>
          <p:cNvSpPr/>
          <p:nvPr/>
        </p:nvSpPr>
        <p:spPr>
          <a:xfrm>
            <a:off x="548640" y="6473952"/>
            <a:ext cx="5120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94A3B8"/>
                </a:solidFill>
              </a:rPr>
              <a:t>Zellei Milán • Projektösszefoglaló • 2026.09.07.</a:t>
            </a:r>
            <a:endParaRPr lang="en-US" sz="720" dirty="0"/>
          </a:p>
        </p:txBody>
      </p:sp>
      <p:sp>
        <p:nvSpPr>
          <p:cNvPr id="26" name="Text 23"/>
          <p:cNvSpPr/>
          <p:nvPr/>
        </p:nvSpPr>
        <p:spPr>
          <a:xfrm>
            <a:off x="11292840" y="6464808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94A3B8"/>
                </a:solidFill>
              </a:rPr>
              <a:t>7</a:t>
            </a:r>
            <a:endParaRPr lang="en-US" sz="72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presetID="10" presetClass="entr" presetSubtype="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4" dur="1" fill="hold"/>
                            <p:tgtEl>
                              <p:spTgt spid="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" dur="420" fill="hold"/>
                            <p:tgtEl>
                              <p:spTgt spid="3"/>
                            </p:tgtEl>
                          </p:cBhvr>
                        </p:animEffect>
                      </p:childTnLst>
                    </p:cTn>
                  </p:par>
                  <p:par>
                    <p:cTn id="6" presetID="10" presetClass="entr" presetSubtype="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7" dur="1" fill="hold"/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8" dur="420" fill="hold"/>
                            <p:tgtEl>
                              <p:spTgt spid="4"/>
                            </p:tgtEl>
                          </p:cBhvr>
                        </p:animEffect>
                      </p:childTnLst>
                    </p:cTn>
                  </p:par>
                  <p:par>
                    <p:cTn id="9" presetID="10" presetClass="entr" presetSubtype="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10" dur="1" fill="hold"/>
                            <p:tgtEl>
                              <p:spTgt spid="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1" dur="420" fill="hold"/>
                            <p:tgtEl>
                              <p:spTgt spid="5"/>
                            </p:tgtEl>
                          </p:cBhvr>
                        </p:animEffect>
                      </p:childTnLst>
                    </p:cTn>
                  </p:par>
                  <p:par>
                    <p:cTn id="12" presetID="10" presetClass="entr" presetSubtype="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13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4" dur="420" fill="hold"/>
                            <p:tgtEl>
                              <p:spTgt spid="6"/>
                            </p:tgtEl>
                          </p:cBhvr>
                        </p:animEffect>
                      </p:childTnLst>
                    </p:cTn>
                  </p:par>
                  <p:par>
                    <p:cTn id="15" presetID="10" presetClass="entr" presetSubtype="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16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7" dur="420" fill="hold"/>
                            <p:tgtEl>
                              <p:spTgt spid="7"/>
                            </p:tgtEl>
                          </p:cBhvr>
                        </p:animEffect>
                      </p:childTnLst>
                    </p:cTn>
                  </p:par>
                  <p:par>
                    <p:cTn id="18" presetID="10" presetClass="entr" presetSubtype="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19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0" dur="420" fill="hold"/>
                            <p:tgtEl>
                              <p:spTgt spid="8"/>
                            </p:tgtEl>
                          </p:cBhvr>
                        </p:animEffect>
                      </p:childTnLst>
                    </p:cTn>
                  </p:par>
                  <p:par>
                    <p:cTn id="21" presetID="10" presetClass="entr" presetSubtype="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22" dur="1" fill="hold"/>
                            <p:tgtEl>
                              <p:spTgt spid="1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3" dur="420" fill="hold"/>
                            <p:tgtEl>
                              <p:spTgt spid="15"/>
                            </p:tgtEl>
                          </p:cBhvr>
                        </p:animEffect>
                      </p:childTnLst>
                    </p:cTn>
                  </p:par>
                  <p:par>
                    <p:cTn id="24" presetID="10" presetClass="entr" presetSubtype="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25" dur="1" fill="hold"/>
                            <p:tgtEl>
                              <p:spTgt spid="2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6" dur="420" fill="hold"/>
                            <p:tgtEl>
                              <p:spTgt spid="22"/>
                            </p:tgtEl>
                          </p:cBhvr>
                        </p:animEffect>
                      </p:childTnLst>
                    </p:cTn>
                  </p:par>
                  <p:par>
                    <p:cTn id="27" presetID="10" presetClass="entr" presetSubtype="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28" dur="1" fill="hold"/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9" dur="420" fill="hold"/>
                            <p:tgtEl>
                              <p:spTgt spid="10"/>
                            </p:tgtEl>
                          </p:cBhvr>
                        </p:animEffect>
                      </p:childTnLst>
                    </p:cTn>
                  </p:par>
                  <p:par>
                    <p:cTn id="30" presetID="10" presetClass="entr" presetSubtype="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31" dur="1" fill="hold"/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2" dur="420" fill="hold"/>
                            <p:tgtEl>
                              <p:spTgt spid="17"/>
                            </p:tgtEl>
                          </p:cBhvr>
                        </p:animEffect>
                      </p:childTnLst>
                    </p:cTn>
                  </p:par>
                  <p:par>
                    <p:cTn id="33" presetID="10" presetClass="entr" presetSubtype="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34" dur="1" fill="hold"/>
                            <p:tgtEl>
                              <p:spTgt spid="2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5" dur="420" fill="hold"/>
                            <p:tgtEl>
                              <p:spTgt spid="23"/>
                            </p:tgtEl>
                          </p:cBhvr>
                        </p:animEffect>
                      </p:childTnLst>
                    </p:cTn>
                  </p:par>
                  <p:par>
                    <p:cTn id="36" presetID="10" presetClass="entr" presetSubtype="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37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8" dur="420" fill="hold"/>
                            <p:tgtEl>
                              <p:spTgt spid="9"/>
                            </p:tgtEl>
                          </p:cBhvr>
                        </p:animEffect>
                      </p:childTnLst>
                    </p:cTn>
                  </p:par>
                  <p:par>
                    <p:cTn id="39" presetID="10" presetClass="entr" presetSubtype="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40" dur="1" fill="hold"/>
                            <p:tgtEl>
                              <p:spTgt spid="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41" dur="420" fill="hold"/>
                            <p:tgtEl>
                              <p:spTgt spid="16"/>
                            </p:tgtEl>
                          </p:cBhvr>
                        </p:animEffect>
                      </p:childTnLst>
                    </p:cTn>
                  </p:par>
                  <p:par>
                    <p:cTn id="42" presetID="10" presetClass="entr" presetSubtype="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43" dur="1" fill="hold"/>
                            <p:tgtEl>
                              <p:spTgt spid="1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44" dur="420" fill="hold"/>
                            <p:tgtEl>
                              <p:spTgt spid="12"/>
                            </p:tgtEl>
                          </p:cBhvr>
                        </p:animEffect>
                      </p:childTnLst>
                    </p:cTn>
                  </p:par>
                  <p:par>
                    <p:cTn id="45" presetID="10" presetClass="entr" presetSubtype="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46" dur="1" fill="hold"/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47" dur="420" fill="hold"/>
                            <p:tgtEl>
                              <p:spTgt spid="19"/>
                            </p:tgtEl>
                          </p:cBhvr>
                        </p:animEffect>
                      </p:childTnLst>
                    </p:cTn>
                  </p:par>
                  <p:par>
                    <p:cTn id="48" presetID="10" presetClass="entr" presetSubtype="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49" dur="1" fill="hold"/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0" dur="420" fill="hold"/>
                            <p:tgtEl>
                              <p:spTgt spid="11"/>
                            </p:tgtEl>
                          </p:cBhvr>
                        </p:animEffect>
                      </p:childTnLst>
                    </p:cTn>
                  </p:par>
                  <p:par>
                    <p:cTn id="51" presetID="10" presetClass="entr" presetSubtype="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52" dur="1" fill="hold"/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3" dur="420" fill="hold"/>
                            <p:tgtEl>
                              <p:spTgt spid="18"/>
                            </p:tgtEl>
                          </p:cBhvr>
                        </p:animEffect>
                      </p:childTnLst>
                    </p:cTn>
                  </p:par>
                  <p:par>
                    <p:cTn id="54" presetID="10" presetClass="entr" presetSubtype="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55" dur="1" fill="hold"/>
                            <p:tgtEl>
                              <p:spTgt spid="1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6" dur="420" fill="hold"/>
                            <p:tgtEl>
                              <p:spTgt spid="14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3" grpId="0"/>
      <p:bldP spid="4" grpId="0"/>
      <p:bldP spid="5" grpId="0"/>
      <p:bldP spid="6" grpId="0"/>
      <p:bldP spid="7" grpId="0"/>
      <p:bldP spid="8" grpId="0"/>
      <p:bldP spid="15" grpId="0"/>
      <p:bldP spid="22" grpId="0"/>
      <p:bldP spid="10" grpId="0"/>
      <p:bldP spid="17" grpId="0"/>
      <p:bldP spid="23" grpId="0"/>
      <p:bldP spid="9" grpId="0"/>
      <p:bldP spid="16" grpId="0"/>
      <p:bldP spid="12" grpId="0"/>
      <p:bldP spid="19" grpId="0"/>
      <p:bldP spid="11" grpId="0"/>
      <p:bldP spid="18" grpId="0"/>
      <p:bldP spid="14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BKSZC Weiss Manfréd Technikum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Előző tanévi projektek összefoglalója</dc:title>
  <dc:subject>Előző tanévi projektek rövid összefoglalója</dc:subject>
  <dc:creator>Zellei Milán</dc:creator>
  <cp:lastModifiedBy>Zellei Milán</cp:lastModifiedBy>
  <cp:revision>1</cp:revision>
  <dcterms:created xsi:type="dcterms:W3CDTF">2026-09-07T11:52:39Z</dcterms:created>
  <dcterms:modified xsi:type="dcterms:W3CDTF">2026-09-07T11:52:39Z</dcterms:modified>
</cp:coreProperties>
</file>